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7" r:id="rId5"/>
    <p:sldId id="264" r:id="rId6"/>
    <p:sldId id="259" r:id="rId7"/>
    <p:sldId id="266" r:id="rId8"/>
    <p:sldId id="267" r:id="rId9"/>
    <p:sldId id="262" r:id="rId10"/>
    <p:sldId id="268"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094"/>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71876-1B18-4FE2-A6E7-C3E962FD2574}"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2169CD-28AB-4CBA-9427-94BDB200D3AB}" type="slidenum">
              <a:rPr lang="en-IN" smtClean="0"/>
              <a:t>‹#›</a:t>
            </a:fld>
            <a:endParaRPr lang="en-IN"/>
          </a:p>
        </p:txBody>
      </p:sp>
    </p:spTree>
    <p:extLst>
      <p:ext uri="{BB962C8B-B14F-4D97-AF65-F5344CB8AC3E}">
        <p14:creationId xmlns:p14="http://schemas.microsoft.com/office/powerpoint/2010/main" val="321381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 </a:t>
            </a:r>
            <a:endParaRPr lang="en-US" dirty="0"/>
          </a:p>
        </p:txBody>
      </p:sp>
      <p:sp>
        <p:nvSpPr>
          <p:cNvPr id="4" name="Slide Number Placeholder 3"/>
          <p:cNvSpPr>
            <a:spLocks noGrp="1"/>
          </p:cNvSpPr>
          <p:nvPr>
            <p:ph type="sldNum" sz="quarter" idx="10"/>
          </p:nvPr>
        </p:nvSpPr>
        <p:spPr/>
        <p:txBody>
          <a:bodyPr/>
          <a:lstStyle/>
          <a:p>
            <a:fld id="{14D3B71A-2468-47CC-84B3-BEC292667521}" type="slidenum">
              <a:rPr lang="en-US" smtClean="0"/>
              <a:t>2</a:t>
            </a:fld>
            <a:endParaRPr lang="en-US"/>
          </a:p>
        </p:txBody>
      </p:sp>
    </p:spTree>
    <p:extLst>
      <p:ext uri="{BB962C8B-B14F-4D97-AF65-F5344CB8AC3E}">
        <p14:creationId xmlns:p14="http://schemas.microsoft.com/office/powerpoint/2010/main" val="2413432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498DD01-AE08-4A25-9CC2-15C43E463F5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1378142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98DD01-AE08-4A25-9CC2-15C43E463F5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578597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498DD01-AE08-4A25-9CC2-15C43E463F5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1604992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498DD01-AE08-4A25-9CC2-15C43E463F5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2425575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498DD01-AE08-4A25-9CC2-15C43E463F56}" type="datetimeFigureOut">
              <a:rPr lang="en-IN" smtClean="0"/>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453192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498DD01-AE08-4A25-9CC2-15C43E463F56}" type="datetimeFigureOut">
              <a:rPr lang="en-IN" smtClean="0"/>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221986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98DD01-AE08-4A25-9CC2-15C43E463F56}" type="datetimeFigureOut">
              <a:rPr lang="en-IN" smtClean="0"/>
              <a:t>06-01-2026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1725439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8DD01-AE08-4A25-9CC2-15C43E463F5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2818132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98DD01-AE08-4A25-9CC2-15C43E463F56}" type="datetimeFigureOut">
              <a:rPr lang="en-IN" smtClean="0"/>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922577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98DD01-AE08-4A25-9CC2-15C43E463F5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1092407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498DD01-AE08-4A25-9CC2-15C43E463F56}" type="datetimeFigureOut">
              <a:rPr lang="en-IN" smtClean="0"/>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AE256A-689B-4633-8C14-79D71715761A}" type="slidenum">
              <a:rPr lang="en-IN" smtClean="0"/>
              <a:t>‹#›</a:t>
            </a:fld>
            <a:endParaRPr lang="en-IN"/>
          </a:p>
        </p:txBody>
      </p:sp>
    </p:spTree>
    <p:extLst>
      <p:ext uri="{BB962C8B-B14F-4D97-AF65-F5344CB8AC3E}">
        <p14:creationId xmlns:p14="http://schemas.microsoft.com/office/powerpoint/2010/main" val="2141251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98DD01-AE08-4A25-9CC2-15C43E463F56}" type="datetimeFigureOut">
              <a:rPr lang="en-IN" smtClean="0"/>
              <a:t>06-01-2026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E256A-689B-4633-8C14-79D71715761A}" type="slidenum">
              <a:rPr lang="en-IN" smtClean="0"/>
              <a:t>‹#›</a:t>
            </a:fld>
            <a:endParaRPr lang="en-IN"/>
          </a:p>
        </p:txBody>
      </p:sp>
    </p:spTree>
    <p:extLst>
      <p:ext uri="{BB962C8B-B14F-4D97-AF65-F5344CB8AC3E}">
        <p14:creationId xmlns:p14="http://schemas.microsoft.com/office/powerpoint/2010/main" val="2260803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mailto:ravishankarholla@rvce.edu.in" TargetMode="External"/><Relationship Id="rId7" Type="http://schemas.openxmlformats.org/officeDocument/2006/relationships/hyperlink" Target="mailto:dilshadahmed.cs23@rvce.edu.in" TargetMode="External"/><Relationship Id="rId2" Type="http://schemas.openxmlformats.org/officeDocument/2006/relationships/hyperlink" Target="mailto:manasmn@rvce.edu.in" TargetMode="External"/><Relationship Id="rId1" Type="http://schemas.openxmlformats.org/officeDocument/2006/relationships/slideLayout" Target="../slideLayouts/slideLayout2.xml"/><Relationship Id="rId6" Type="http://schemas.openxmlformats.org/officeDocument/2006/relationships/hyperlink" Target="mailto:ishaanc.cs23@rvce.edu.in" TargetMode="External"/><Relationship Id="rId5" Type="http://schemas.openxmlformats.org/officeDocument/2006/relationships/hyperlink" Target="mailto:kmrudulareddy.cs23@rvce.edu.in" TargetMode="External"/><Relationship Id="rId4" Type="http://schemas.openxmlformats.org/officeDocument/2006/relationships/hyperlink" Target="mailto:ishithabusettty.cs23@rvce.edu.in"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hyperlink" Target="mailto:aravind.n@samsung.com" TargetMode="External"/><Relationship Id="rId12" Type="http://schemas.openxmlformats.org/officeDocument/2006/relationships/hyperlink" Target="mailto:s.pentapalli@partner.samsung.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hyperlink" Target="mailto:Asha.nprasad@samsung.com" TargetMode="External"/><Relationship Id="rId4" Type="http://schemas.openxmlformats.org/officeDocument/2006/relationships/image" Target="../media/image3.jpe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75616" y="3254597"/>
            <a:ext cx="11591922" cy="2414684"/>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IN" sz="3200" b="1" dirty="0" smtClean="0">
                <a:latin typeface="SamsungOne 700" panose="020B0803030303020204" pitchFamily="34" charset="0"/>
                <a:ea typeface="SamsungOne 700" panose="020B0803030303020204" pitchFamily="34" charset="0"/>
              </a:rPr>
              <a:t>[Samsung PRISM] Preliminary Discussion</a:t>
            </a:r>
            <a:endParaRPr lang="en-IN" sz="3200" b="1" dirty="0">
              <a:latin typeface="SamsungOne 700" panose="020B0803030303020204" pitchFamily="34" charset="0"/>
              <a:ea typeface="SamsungOne 700" panose="020B08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23" name="Rectangle 22"/>
          <p:cNvSpPr/>
          <p:nvPr/>
        </p:nvSpPr>
        <p:spPr>
          <a:xfrm>
            <a:off x="361938" y="3343028"/>
            <a:ext cx="768159" cy="400110"/>
          </a:xfrm>
          <a:prstGeom prst="rect">
            <a:avLst/>
          </a:prstGeom>
        </p:spPr>
        <p:txBody>
          <a:bodyPr wrap="none">
            <a:spAutoFit/>
          </a:bodyPr>
          <a:lstStyle/>
          <a:p>
            <a:r>
              <a:rPr lang="en-IN" sz="2000" b="1" dirty="0" smtClean="0">
                <a:latin typeface="SamsungOne 600C" panose="020B0706030303020204" pitchFamily="34" charset="0"/>
                <a:ea typeface="SamsungOne 600C" panose="020B0706030303020204" pitchFamily="34" charset="0"/>
              </a:rPr>
              <a:t>Team</a:t>
            </a:r>
            <a:endParaRPr lang="en-IN" sz="2000" b="1" dirty="0">
              <a:latin typeface="SamsungOne 600C" panose="020B0706030303020204" pitchFamily="34" charset="0"/>
              <a:ea typeface="SamsungOne 600C" panose="020B0706030303020204" pitchFamily="34" charset="0"/>
            </a:endParaRPr>
          </a:p>
        </p:txBody>
      </p:sp>
      <p:sp>
        <p:nvSpPr>
          <p:cNvPr id="24" name="Rectangle 23"/>
          <p:cNvSpPr/>
          <p:nvPr/>
        </p:nvSpPr>
        <p:spPr>
          <a:xfrm>
            <a:off x="472244" y="3737243"/>
            <a:ext cx="10892374" cy="1785104"/>
          </a:xfrm>
          <a:prstGeom prst="rect">
            <a:avLst/>
          </a:prstGeom>
        </p:spPr>
        <p:txBody>
          <a:bodyPr wrap="square">
            <a:spAutoFit/>
          </a:bodyPr>
          <a:lstStyle/>
          <a:p>
            <a:pPr marL="228600" indent="-228600">
              <a:buAutoNum type="arabicPeriod"/>
            </a:pPr>
            <a:r>
              <a:rPr lang="en-IN" dirty="0" smtClean="0">
                <a:solidFill>
                  <a:srgbClr val="0E4094"/>
                </a:solidFill>
                <a:latin typeface="SamsungOne 600C" panose="020B0706030303020204" pitchFamily="34" charset="0"/>
                <a:ea typeface="SamsungOne 600C" panose="020B0706030303020204" pitchFamily="34" charset="0"/>
              </a:rPr>
              <a:t>College Professor(s</a:t>
            </a:r>
            <a:r>
              <a:rPr lang="en-IN" dirty="0" smtClean="0">
                <a:solidFill>
                  <a:srgbClr val="0E4094"/>
                </a:solidFill>
                <a:latin typeface="SamsungOne 600C" panose="020B0706030303020204" pitchFamily="34" charset="0"/>
                <a:ea typeface="SamsungOne 600C" panose="020B0706030303020204" pitchFamily="34" charset="0"/>
              </a:rPr>
              <a:t>): </a:t>
            </a:r>
            <a:r>
              <a:rPr lang="en-IN" dirty="0" err="1" smtClean="0">
                <a:solidFill>
                  <a:srgbClr val="0E4094"/>
                </a:solidFill>
                <a:latin typeface="SamsungOne 600C" panose="020B0706030303020204" pitchFamily="34" charset="0"/>
                <a:ea typeface="SamsungOne 600C" panose="020B0706030303020204" pitchFamily="34" charset="0"/>
              </a:rPr>
              <a:t>Manas</a:t>
            </a:r>
            <a:r>
              <a:rPr lang="en-IN" dirty="0" smtClean="0">
                <a:solidFill>
                  <a:srgbClr val="0E4094"/>
                </a:solidFill>
                <a:latin typeface="SamsungOne 600C" panose="020B0706030303020204" pitchFamily="34" charset="0"/>
                <a:ea typeface="SamsungOne 600C" panose="020B0706030303020204" pitchFamily="34" charset="0"/>
              </a:rPr>
              <a:t> M N, </a:t>
            </a:r>
            <a:r>
              <a:rPr lang="en-IN" dirty="0" err="1" smtClean="0">
                <a:solidFill>
                  <a:srgbClr val="0E4094"/>
                </a:solidFill>
                <a:latin typeface="SamsungOne 600C" panose="020B0706030303020204" pitchFamily="34" charset="0"/>
                <a:ea typeface="SamsungOne 600C" panose="020B0706030303020204" pitchFamily="34" charset="0"/>
              </a:rPr>
              <a:t>Ravishankar</a:t>
            </a:r>
            <a:r>
              <a:rPr lang="en-IN" dirty="0" smtClean="0">
                <a:solidFill>
                  <a:srgbClr val="0E4094"/>
                </a:solidFill>
                <a:latin typeface="SamsungOne 600C" panose="020B0706030303020204" pitchFamily="34" charset="0"/>
                <a:ea typeface="SamsungOne 600C" panose="020B0706030303020204" pitchFamily="34" charset="0"/>
              </a:rPr>
              <a:t> Holla  / </a:t>
            </a:r>
            <a:r>
              <a:rPr lang="en-IN" dirty="0" smtClean="0">
                <a:solidFill>
                  <a:srgbClr val="0E4094"/>
                </a:solidFill>
                <a:latin typeface="SamsungOne 600C" panose="020B0706030303020204" pitchFamily="34" charset="0"/>
                <a:ea typeface="SamsungOne 600C" panose="020B0706030303020204" pitchFamily="34" charset="0"/>
                <a:hlinkClick r:id="rId2"/>
              </a:rPr>
              <a:t>manasmn@rvce.edu.in</a:t>
            </a:r>
            <a:r>
              <a:rPr lang="en-IN" dirty="0" smtClean="0">
                <a:solidFill>
                  <a:srgbClr val="0E4094"/>
                </a:solidFill>
                <a:latin typeface="SamsungOne 600C" panose="020B0706030303020204" pitchFamily="34" charset="0"/>
                <a:ea typeface="SamsungOne 600C" panose="020B0706030303020204" pitchFamily="34" charset="0"/>
              </a:rPr>
              <a:t> , </a:t>
            </a:r>
            <a:r>
              <a:rPr lang="en-IN" dirty="0" smtClean="0">
                <a:solidFill>
                  <a:srgbClr val="0E4094"/>
                </a:solidFill>
                <a:latin typeface="SamsungOne 600C" panose="020B0706030303020204" pitchFamily="34" charset="0"/>
                <a:ea typeface="SamsungOne 600C" panose="020B0706030303020204" pitchFamily="34" charset="0"/>
                <a:hlinkClick r:id="rId3"/>
              </a:rPr>
              <a:t>ravishankarholla</a:t>
            </a:r>
            <a:r>
              <a:rPr lang="en-IN" dirty="0" smtClean="0">
                <a:solidFill>
                  <a:srgbClr val="0E4094"/>
                </a:solidFill>
                <a:latin typeface="SamsungOne 600C" panose="020B0706030303020204" pitchFamily="34" charset="0"/>
                <a:ea typeface="SamsungOne 600C" panose="020B0706030303020204" pitchFamily="34" charset="0"/>
                <a:hlinkClick r:id="rId3"/>
              </a:rPr>
              <a:t>@rvce.edu.in</a:t>
            </a:r>
            <a:r>
              <a:rPr lang="en-IN" dirty="0" smtClean="0">
                <a:solidFill>
                  <a:srgbClr val="0E4094"/>
                </a:solidFill>
                <a:latin typeface="SamsungOne 600C" panose="020B0706030303020204" pitchFamily="34" charset="0"/>
                <a:ea typeface="SamsungOne 600C" panose="020B0706030303020204" pitchFamily="34" charset="0"/>
              </a:rPr>
              <a:t> </a:t>
            </a:r>
            <a:endParaRPr lang="en-IN" i="1" dirty="0" smtClean="0">
              <a:solidFill>
                <a:srgbClr val="0E4094"/>
              </a:solidFill>
              <a:latin typeface="SamsungOne 600C" panose="020B0706030303020204" pitchFamily="34" charset="0"/>
              <a:ea typeface="SamsungOne 600C" panose="020B0706030303020204" pitchFamily="34" charset="0"/>
            </a:endParaRPr>
          </a:p>
          <a:p>
            <a:pPr marL="228600" indent="-228600">
              <a:buAutoNum type="arabicPeriod"/>
            </a:pPr>
            <a:r>
              <a:rPr lang="en-IN" dirty="0" smtClean="0">
                <a:solidFill>
                  <a:srgbClr val="0E4094"/>
                </a:solidFill>
                <a:latin typeface="SamsungOne 600C" panose="020B0706030303020204" pitchFamily="34" charset="0"/>
                <a:ea typeface="SamsungOne 600C" panose="020B0706030303020204" pitchFamily="34" charset="0"/>
              </a:rPr>
              <a:t>Students:</a:t>
            </a:r>
          </a:p>
          <a:p>
            <a:pPr marL="685800" lvl="1" indent="-228600">
              <a:buAutoNum type="arabicPeriod"/>
            </a:pPr>
            <a:r>
              <a:rPr lang="en-IN" sz="1400" dirty="0" err="1" smtClean="0">
                <a:solidFill>
                  <a:srgbClr val="0E4094"/>
                </a:solidFill>
                <a:latin typeface="SamsungOne 600C" panose="020B0706030303020204" pitchFamily="34" charset="0"/>
                <a:ea typeface="SamsungOne 600C" panose="020B0706030303020204" pitchFamily="34" charset="0"/>
              </a:rPr>
              <a:t>Ishitha</a:t>
            </a:r>
            <a:r>
              <a:rPr lang="en-IN" sz="1400" dirty="0" smtClean="0">
                <a:solidFill>
                  <a:srgbClr val="0E4094"/>
                </a:solidFill>
                <a:latin typeface="SamsungOne 600C" panose="020B0706030303020204" pitchFamily="34" charset="0"/>
                <a:ea typeface="SamsungOne 600C" panose="020B0706030303020204" pitchFamily="34" charset="0"/>
              </a:rPr>
              <a:t> </a:t>
            </a:r>
            <a:r>
              <a:rPr lang="en-IN" sz="1400" dirty="0" err="1" smtClean="0">
                <a:solidFill>
                  <a:srgbClr val="0E4094"/>
                </a:solidFill>
                <a:latin typeface="SamsungOne 600C" panose="020B0706030303020204" pitchFamily="34" charset="0"/>
                <a:ea typeface="SamsungOne 600C" panose="020B0706030303020204" pitchFamily="34" charset="0"/>
              </a:rPr>
              <a:t>Busetty</a:t>
            </a:r>
            <a:r>
              <a:rPr lang="en-IN" sz="1400" dirty="0" smtClean="0">
                <a:solidFill>
                  <a:srgbClr val="0E4094"/>
                </a:solidFill>
                <a:latin typeface="SamsungOne 600C" panose="020B0706030303020204" pitchFamily="34" charset="0"/>
                <a:ea typeface="SamsungOne 600C" panose="020B0706030303020204" pitchFamily="34" charset="0"/>
              </a:rPr>
              <a:t> / </a:t>
            </a:r>
            <a:r>
              <a:rPr lang="en-IN" sz="1400" dirty="0" smtClean="0">
                <a:solidFill>
                  <a:srgbClr val="0E4094"/>
                </a:solidFill>
                <a:latin typeface="SamsungOne 600C" panose="020B0706030303020204" pitchFamily="34" charset="0"/>
                <a:ea typeface="SamsungOne 600C" panose="020B0706030303020204" pitchFamily="34" charset="0"/>
                <a:hlinkClick r:id="rId4"/>
              </a:rPr>
              <a:t>ishithabusettty.cs23@rvce.edu.in</a:t>
            </a:r>
            <a:r>
              <a:rPr lang="en-IN" sz="1400" dirty="0" smtClean="0">
                <a:solidFill>
                  <a:srgbClr val="0E4094"/>
                </a:solidFill>
                <a:latin typeface="SamsungOne 600C" panose="020B0706030303020204" pitchFamily="34" charset="0"/>
                <a:ea typeface="SamsungOne 600C" panose="020B0706030303020204" pitchFamily="34" charset="0"/>
              </a:rPr>
              <a:t>  </a:t>
            </a:r>
          </a:p>
          <a:p>
            <a:pPr marL="685800" lvl="1" indent="-228600">
              <a:buAutoNum type="arabicPeriod"/>
            </a:pPr>
            <a:r>
              <a:rPr lang="en-IN" sz="1400" dirty="0" smtClean="0">
                <a:solidFill>
                  <a:srgbClr val="0E4094"/>
                </a:solidFill>
                <a:latin typeface="SamsungOne 600C" panose="020B0706030303020204" pitchFamily="34" charset="0"/>
                <a:ea typeface="SamsungOne 600C" panose="020B0706030303020204" pitchFamily="34" charset="0"/>
              </a:rPr>
              <a:t>K </a:t>
            </a:r>
            <a:r>
              <a:rPr lang="en-IN" sz="1400" dirty="0" err="1" smtClean="0">
                <a:solidFill>
                  <a:srgbClr val="0E4094"/>
                </a:solidFill>
                <a:latin typeface="SamsungOne 600C" panose="020B0706030303020204" pitchFamily="34" charset="0"/>
                <a:ea typeface="SamsungOne 600C" panose="020B0706030303020204" pitchFamily="34" charset="0"/>
              </a:rPr>
              <a:t>Mrudula</a:t>
            </a:r>
            <a:r>
              <a:rPr lang="en-IN" sz="1400" dirty="0" smtClean="0">
                <a:solidFill>
                  <a:srgbClr val="0E4094"/>
                </a:solidFill>
                <a:latin typeface="SamsungOne 600C" panose="020B0706030303020204" pitchFamily="34" charset="0"/>
                <a:ea typeface="SamsungOne 600C" panose="020B0706030303020204" pitchFamily="34" charset="0"/>
              </a:rPr>
              <a:t> Reddy </a:t>
            </a:r>
            <a:r>
              <a:rPr lang="en-IN" sz="1400" dirty="0">
                <a:solidFill>
                  <a:srgbClr val="0E4094"/>
                </a:solidFill>
                <a:latin typeface="SamsungOne 600C" panose="020B0706030303020204" pitchFamily="34" charset="0"/>
                <a:ea typeface="SamsungOne 600C" panose="020B0706030303020204" pitchFamily="34" charset="0"/>
              </a:rPr>
              <a:t>/ </a:t>
            </a:r>
            <a:r>
              <a:rPr lang="en-IN" sz="1400" dirty="0" smtClean="0">
                <a:solidFill>
                  <a:srgbClr val="0E4094"/>
                </a:solidFill>
                <a:latin typeface="SamsungOne 600C" panose="020B0706030303020204" pitchFamily="34" charset="0"/>
                <a:ea typeface="SamsungOne 600C" panose="020B0706030303020204" pitchFamily="34" charset="0"/>
                <a:hlinkClick r:id="rId5"/>
              </a:rPr>
              <a:t>kmrudulareddy.cs23@rvce.edu.in</a:t>
            </a:r>
            <a:r>
              <a:rPr lang="en-IN" sz="1400" dirty="0" smtClean="0">
                <a:solidFill>
                  <a:srgbClr val="0E4094"/>
                </a:solidFill>
                <a:latin typeface="SamsungOne 600C" panose="020B0706030303020204" pitchFamily="34" charset="0"/>
                <a:ea typeface="SamsungOne 600C" panose="020B0706030303020204" pitchFamily="34" charset="0"/>
              </a:rPr>
              <a:t> </a:t>
            </a:r>
            <a:endParaRPr lang="en-IN" sz="1400" dirty="0" smtClean="0">
              <a:solidFill>
                <a:srgbClr val="0E4094"/>
              </a:solidFill>
              <a:latin typeface="SamsungOne 600C" panose="020B0706030303020204" pitchFamily="34" charset="0"/>
              <a:ea typeface="SamsungOne 600C" panose="020B0706030303020204" pitchFamily="34" charset="0"/>
            </a:endParaRPr>
          </a:p>
          <a:p>
            <a:pPr marL="685800" lvl="1" indent="-228600">
              <a:buAutoNum type="arabicPeriod"/>
            </a:pPr>
            <a:r>
              <a:rPr lang="en-IN" sz="1400" dirty="0" smtClean="0">
                <a:solidFill>
                  <a:srgbClr val="0E4094"/>
                </a:solidFill>
                <a:latin typeface="SamsungOne 600C" panose="020B0706030303020204" pitchFamily="34" charset="0"/>
                <a:ea typeface="SamsungOne 600C" panose="020B0706030303020204" pitchFamily="34" charset="0"/>
              </a:rPr>
              <a:t>Ishaan C </a:t>
            </a:r>
            <a:r>
              <a:rPr lang="en-IN" sz="1400" dirty="0">
                <a:solidFill>
                  <a:srgbClr val="0E4094"/>
                </a:solidFill>
                <a:latin typeface="SamsungOne 600C" panose="020B0706030303020204" pitchFamily="34" charset="0"/>
                <a:ea typeface="SamsungOne 600C" panose="020B0706030303020204" pitchFamily="34" charset="0"/>
              </a:rPr>
              <a:t>/ </a:t>
            </a:r>
            <a:r>
              <a:rPr lang="en-IN" sz="1400" dirty="0" smtClean="0">
                <a:solidFill>
                  <a:srgbClr val="0E4094"/>
                </a:solidFill>
                <a:latin typeface="SamsungOne 600C" panose="020B0706030303020204" pitchFamily="34" charset="0"/>
                <a:ea typeface="SamsungOne 600C" panose="020B0706030303020204" pitchFamily="34" charset="0"/>
                <a:hlinkClick r:id="rId6"/>
              </a:rPr>
              <a:t>ishaanc.cs23@rvce.edu.in</a:t>
            </a:r>
            <a:r>
              <a:rPr lang="en-IN" sz="1400" dirty="0" smtClean="0">
                <a:solidFill>
                  <a:srgbClr val="0E4094"/>
                </a:solidFill>
                <a:latin typeface="SamsungOne 600C" panose="020B0706030303020204" pitchFamily="34" charset="0"/>
                <a:ea typeface="SamsungOne 600C" panose="020B0706030303020204" pitchFamily="34" charset="0"/>
              </a:rPr>
              <a:t> </a:t>
            </a:r>
            <a:endParaRPr lang="en-IN" sz="1400" dirty="0" smtClean="0">
              <a:solidFill>
                <a:srgbClr val="0E4094"/>
              </a:solidFill>
              <a:latin typeface="SamsungOne 600C" panose="020B0706030303020204" pitchFamily="34" charset="0"/>
              <a:ea typeface="SamsungOne 600C" panose="020B0706030303020204" pitchFamily="34" charset="0"/>
            </a:endParaRPr>
          </a:p>
          <a:p>
            <a:pPr marL="685800" lvl="1" indent="-228600">
              <a:buAutoNum type="arabicPeriod"/>
            </a:pPr>
            <a:r>
              <a:rPr lang="en-IN" sz="1400" dirty="0" err="1" smtClean="0">
                <a:solidFill>
                  <a:srgbClr val="0E4094"/>
                </a:solidFill>
                <a:latin typeface="SamsungOne 600C" panose="020B0706030303020204" pitchFamily="34" charset="0"/>
                <a:ea typeface="SamsungOne 600C" panose="020B0706030303020204" pitchFamily="34" charset="0"/>
              </a:rPr>
              <a:t>Dilshad</a:t>
            </a:r>
            <a:r>
              <a:rPr lang="en-IN" sz="1400" dirty="0" smtClean="0">
                <a:solidFill>
                  <a:srgbClr val="0E4094"/>
                </a:solidFill>
                <a:latin typeface="SamsungOne 600C" panose="020B0706030303020204" pitchFamily="34" charset="0"/>
                <a:ea typeface="SamsungOne 600C" panose="020B0706030303020204" pitchFamily="34" charset="0"/>
              </a:rPr>
              <a:t> Ahmed </a:t>
            </a:r>
            <a:r>
              <a:rPr lang="en-IN" sz="1400" dirty="0">
                <a:solidFill>
                  <a:srgbClr val="0E4094"/>
                </a:solidFill>
                <a:latin typeface="SamsungOne 600C" panose="020B0706030303020204" pitchFamily="34" charset="0"/>
                <a:ea typeface="SamsungOne 600C" panose="020B0706030303020204" pitchFamily="34" charset="0"/>
              </a:rPr>
              <a:t>/ </a:t>
            </a:r>
            <a:r>
              <a:rPr lang="en-IN" sz="1400" dirty="0" smtClean="0">
                <a:solidFill>
                  <a:srgbClr val="0E4094"/>
                </a:solidFill>
                <a:latin typeface="SamsungOne 600C" panose="020B0706030303020204" pitchFamily="34" charset="0"/>
                <a:ea typeface="SamsungOne 600C" panose="020B0706030303020204" pitchFamily="34" charset="0"/>
                <a:hlinkClick r:id="rId7"/>
              </a:rPr>
              <a:t>dilshadahmed.cs23@rvce.edu.in</a:t>
            </a:r>
            <a:r>
              <a:rPr lang="en-IN" sz="1400" dirty="0" smtClean="0">
                <a:solidFill>
                  <a:srgbClr val="0E4094"/>
                </a:solidFill>
                <a:latin typeface="SamsungOne 600C" panose="020B0706030303020204" pitchFamily="34" charset="0"/>
                <a:ea typeface="SamsungOne 600C" panose="020B0706030303020204" pitchFamily="34" charset="0"/>
              </a:rPr>
              <a:t> </a:t>
            </a:r>
            <a:endParaRPr lang="en-IN" sz="1400" dirty="0" smtClean="0">
              <a:solidFill>
                <a:srgbClr val="0E4094"/>
              </a:solidFill>
              <a:latin typeface="SamsungOne 600C" panose="020B0706030303020204" pitchFamily="34" charset="0"/>
              <a:ea typeface="SamsungOne 600C" panose="020B0706030303020204" pitchFamily="34" charset="0"/>
            </a:endParaRPr>
          </a:p>
          <a:p>
            <a:pPr marL="228600" indent="-228600">
              <a:buAutoNum type="arabicPeriod"/>
            </a:pPr>
            <a:r>
              <a:rPr lang="en-IN" dirty="0" smtClean="0">
                <a:solidFill>
                  <a:srgbClr val="0E4094"/>
                </a:solidFill>
                <a:latin typeface="SamsungOne 600C" panose="020B0706030303020204" pitchFamily="34" charset="0"/>
                <a:ea typeface="SamsungOne 600C" panose="020B0706030303020204" pitchFamily="34" charset="0"/>
              </a:rPr>
              <a:t>Department</a:t>
            </a:r>
            <a:r>
              <a:rPr lang="en-IN" dirty="0" smtClean="0">
                <a:solidFill>
                  <a:srgbClr val="0E4094"/>
                </a:solidFill>
                <a:latin typeface="SamsungOne 600C" panose="020B0706030303020204" pitchFamily="34" charset="0"/>
                <a:ea typeface="SamsungOne 600C" panose="020B0706030303020204" pitchFamily="34" charset="0"/>
              </a:rPr>
              <a:t>: Computer Science and Engineering</a:t>
            </a:r>
            <a:endParaRPr lang="en-IN" dirty="0">
              <a:solidFill>
                <a:srgbClr val="0E4094"/>
              </a:solidFill>
              <a:latin typeface="SamsungOne 600C" panose="020B0706030303020204" pitchFamily="34" charset="0"/>
              <a:ea typeface="SamsungOne 600C" panose="020B0706030303020204" pitchFamily="34" charset="0"/>
            </a:endParaRPr>
          </a:p>
        </p:txBody>
      </p:sp>
      <p:sp>
        <p:nvSpPr>
          <p:cNvPr id="28" name="TextBox 27"/>
          <p:cNvSpPr txBox="1"/>
          <p:nvPr/>
        </p:nvSpPr>
        <p:spPr>
          <a:xfrm>
            <a:off x="10159433" y="6437194"/>
            <a:ext cx="2032566" cy="400110"/>
          </a:xfrm>
          <a:prstGeom prst="rect">
            <a:avLst/>
          </a:prstGeom>
          <a:noFill/>
        </p:spPr>
        <p:txBody>
          <a:bodyPr wrap="square" rtlCol="0" anchor="ctr">
            <a:spAutoFit/>
          </a:bodyPr>
          <a:lstStyle/>
          <a:p>
            <a:r>
              <a:rPr lang="en-IN" sz="2000" dirty="0" smtClean="0">
                <a:latin typeface="SamsungOne 600C" panose="020B0706030303020204" pitchFamily="34" charset="0"/>
                <a:ea typeface="SamsungOne 600C" panose="020B0706030303020204" pitchFamily="34" charset="0"/>
              </a:rPr>
              <a:t>Date: </a:t>
            </a:r>
            <a:r>
              <a:rPr lang="en-IN" sz="2000" dirty="0" smtClean="0">
                <a:latin typeface="SamsungOne 600C" panose="020B0706030303020204" pitchFamily="34" charset="0"/>
                <a:ea typeface="SamsungOne 600C" panose="020B0706030303020204" pitchFamily="34" charset="0"/>
              </a:rPr>
              <a:t>6</a:t>
            </a:r>
            <a:r>
              <a:rPr lang="en-IN" sz="2000" baseline="30000" dirty="0" smtClean="0">
                <a:latin typeface="SamsungOne 600C" panose="020B0706030303020204" pitchFamily="34" charset="0"/>
                <a:ea typeface="SamsungOne 600C" panose="020B0706030303020204" pitchFamily="34" charset="0"/>
              </a:rPr>
              <a:t>Th</a:t>
            </a:r>
            <a:r>
              <a:rPr lang="en-IN" sz="2000" dirty="0" smtClean="0">
                <a:latin typeface="SamsungOne 600C" panose="020B0706030303020204" pitchFamily="34" charset="0"/>
                <a:ea typeface="SamsungOne 600C" panose="020B0706030303020204" pitchFamily="34" charset="0"/>
              </a:rPr>
              <a:t> Jan 2026</a:t>
            </a:r>
            <a:endParaRPr lang="en-US" sz="2000" dirty="0">
              <a:solidFill>
                <a:schemeClr val="bg1">
                  <a:lumMod val="50000"/>
                </a:schemeClr>
              </a:solidFill>
              <a:latin typeface="SamsungOne 600C" panose="020B0706030303020204" pitchFamily="34" charset="0"/>
              <a:ea typeface="SamsungOne 600C" panose="020B0706030303020204" pitchFamily="34" charset="0"/>
            </a:endParaRPr>
          </a:p>
        </p:txBody>
      </p:sp>
      <p:pic>
        <p:nvPicPr>
          <p:cNvPr id="33" name="Picture 32"/>
          <p:cNvPicPr>
            <a:picLocks noChangeAspect="1"/>
          </p:cNvPicPr>
          <p:nvPr/>
        </p:nvPicPr>
        <p:blipFill rotWithShape="1">
          <a:blip r:embed="rId8"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34" name="TextBox 33"/>
          <p:cNvSpPr txBox="1"/>
          <p:nvPr/>
        </p:nvSpPr>
        <p:spPr>
          <a:xfrm>
            <a:off x="1408136" y="2277799"/>
            <a:ext cx="9402182" cy="707886"/>
          </a:xfrm>
          <a:prstGeom prst="rect">
            <a:avLst/>
          </a:prstGeom>
          <a:noFill/>
        </p:spPr>
        <p:txBody>
          <a:bodyPr wrap="square" rtlCol="0" anchor="ctr">
            <a:spAutoFit/>
          </a:bodyPr>
          <a:lstStyle/>
          <a:p>
            <a:pPr algn="ctr"/>
            <a:r>
              <a:rPr lang="en-GB" sz="4000" b="1" i="1" dirty="0" smtClean="0">
                <a:latin typeface="SamsungOne 700" panose="020B0803030303020204" pitchFamily="34" charset="0"/>
                <a:ea typeface="SamsungOne 700" panose="020B0803030303020204" pitchFamily="34" charset="0"/>
              </a:rPr>
              <a:t>AI-powered </a:t>
            </a:r>
            <a:r>
              <a:rPr lang="en-GB" sz="4000" b="1" i="1" dirty="0">
                <a:latin typeface="SamsungOne 700" panose="020B0803030303020204" pitchFamily="34" charset="0"/>
                <a:ea typeface="SamsungOne 700" panose="020B0803030303020204" pitchFamily="34" charset="0"/>
              </a:rPr>
              <a:t>Video Content Anomaly </a:t>
            </a:r>
            <a:r>
              <a:rPr lang="en-GB" sz="4000" b="1" i="1" dirty="0" smtClean="0">
                <a:latin typeface="SamsungOne 700" panose="020B0803030303020204" pitchFamily="34" charset="0"/>
                <a:ea typeface="SamsungOne 700" panose="020B0803030303020204" pitchFamily="34" charset="0"/>
              </a:rPr>
              <a:t>Detection</a:t>
            </a:r>
            <a:endParaRPr lang="en-IN" sz="4000" b="1" i="1" dirty="0">
              <a:latin typeface="SamsungOne 700" panose="020B0803030303020204" pitchFamily="34" charset="0"/>
              <a:ea typeface="SamsungOne 700" panose="020B0803030303020204" pitchFamily="34" charset="0"/>
            </a:endParaRPr>
          </a:p>
        </p:txBody>
      </p:sp>
    </p:spTree>
    <p:extLst>
      <p:ext uri="{BB962C8B-B14F-4D97-AF65-F5344CB8AC3E}">
        <p14:creationId xmlns:p14="http://schemas.microsoft.com/office/powerpoint/2010/main" val="1915069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p:cNvSpPr/>
          <p:nvPr/>
        </p:nvSpPr>
        <p:spPr>
          <a:xfrm>
            <a:off x="-10282" y="628380"/>
            <a:ext cx="5012268" cy="6177098"/>
          </a:xfrm>
          <a:prstGeom prst="rect">
            <a:avLst/>
          </a:prstGeom>
          <a:solidFill>
            <a:schemeClr val="tx1">
              <a:lumMod val="75000"/>
              <a:lumOff val="2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Rectangle 32"/>
          <p:cNvSpPr/>
          <p:nvPr/>
        </p:nvSpPr>
        <p:spPr>
          <a:xfrm>
            <a:off x="-18595" y="52523"/>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sp>
        <p:nvSpPr>
          <p:cNvPr id="34" name="TextBox 4"/>
          <p:cNvSpPr txBox="1"/>
          <p:nvPr/>
        </p:nvSpPr>
        <p:spPr>
          <a:xfrm>
            <a:off x="234473" y="86860"/>
            <a:ext cx="10243702" cy="400110"/>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2000" b="1" i="0" dirty="0">
                <a:solidFill>
                  <a:srgbClr val="000000"/>
                </a:solidFill>
                <a:effectLst/>
                <a:latin typeface="Arial" panose="020B0604020202020204" pitchFamily="34" charset="0"/>
              </a:rPr>
              <a:t>AI-powered Video Content Anomaly Detection</a:t>
            </a:r>
            <a:endParaRPr lang="en-US" sz="2000" dirty="0">
              <a:solidFill>
                <a:schemeClr val="bg1">
                  <a:lumMod val="50000"/>
                </a:schemeClr>
              </a:solidFill>
              <a:latin typeface="SamsungOne 600C" panose="020B0706030303020204" pitchFamily="34" charset="0"/>
              <a:ea typeface="SamsungOne 600C" panose="020B0706030303020204" pitchFamily="34" charset="0"/>
            </a:endParaRPr>
          </a:p>
        </p:txBody>
      </p:sp>
      <p:pic>
        <p:nvPicPr>
          <p:cNvPr id="35" name="Picture 34"/>
          <p:cNvPicPr>
            <a:picLocks noChangeAspect="1"/>
          </p:cNvPicPr>
          <p:nvPr/>
        </p:nvPicPr>
        <p:blipFill>
          <a:blip r:embed="rId3"/>
          <a:stretch>
            <a:fillRect/>
          </a:stretch>
        </p:blipFill>
        <p:spPr>
          <a:xfrm>
            <a:off x="10361537" y="63679"/>
            <a:ext cx="1811867" cy="380862"/>
          </a:xfrm>
          <a:prstGeom prst="rect">
            <a:avLst/>
          </a:prstGeom>
        </p:spPr>
      </p:pic>
      <p:sp>
        <p:nvSpPr>
          <p:cNvPr id="36" name="Rectangle 35"/>
          <p:cNvSpPr/>
          <p:nvPr/>
        </p:nvSpPr>
        <p:spPr>
          <a:xfrm>
            <a:off x="219370" y="52523"/>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grpSp>
        <p:nvGrpSpPr>
          <p:cNvPr id="37" name="Group 36"/>
          <p:cNvGrpSpPr/>
          <p:nvPr/>
        </p:nvGrpSpPr>
        <p:grpSpPr>
          <a:xfrm>
            <a:off x="5258272" y="5309259"/>
            <a:ext cx="6269184" cy="143934"/>
            <a:chOff x="5926666" y="5681136"/>
            <a:chExt cx="5435602" cy="143934"/>
          </a:xfrm>
        </p:grpSpPr>
        <p:cxnSp>
          <p:nvCxnSpPr>
            <p:cNvPr id="81" name="Straight Connector 80"/>
            <p:cNvCxnSpPr/>
            <p:nvPr/>
          </p:nvCxnSpPr>
          <p:spPr>
            <a:xfrm flipH="1">
              <a:off x="6002866" y="5753103"/>
              <a:ext cx="5317067" cy="0"/>
            </a:xfrm>
            <a:prstGeom prst="line">
              <a:avLst/>
            </a:prstGeom>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5926666" y="5681136"/>
              <a:ext cx="144000" cy="143934"/>
            </a:xfrm>
            <a:prstGeom prst="ellipse">
              <a:avLst/>
            </a:prstGeom>
            <a:solidFill>
              <a:srgbClr val="92D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sp>
          <p:nvSpPr>
            <p:cNvPr id="83" name="Oval 82"/>
            <p:cNvSpPr/>
            <p:nvPr/>
          </p:nvSpPr>
          <p:spPr>
            <a:xfrm>
              <a:off x="7690533" y="5681136"/>
              <a:ext cx="144000" cy="143934"/>
            </a:xfrm>
            <a:prstGeom prst="ellipse">
              <a:avLst/>
            </a:prstGeom>
            <a:solidFill>
              <a:srgbClr val="92D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sp>
          <p:nvSpPr>
            <p:cNvPr id="84" name="Oval 83"/>
            <p:cNvSpPr/>
            <p:nvPr/>
          </p:nvSpPr>
          <p:spPr>
            <a:xfrm>
              <a:off x="9454400" y="5681136"/>
              <a:ext cx="144000" cy="143934"/>
            </a:xfrm>
            <a:prstGeom prst="ellipse">
              <a:avLst/>
            </a:prstGeom>
            <a:solidFill>
              <a:srgbClr val="92D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sp>
          <p:nvSpPr>
            <p:cNvPr id="85" name="Oval 84"/>
            <p:cNvSpPr/>
            <p:nvPr/>
          </p:nvSpPr>
          <p:spPr>
            <a:xfrm>
              <a:off x="11218268" y="5681136"/>
              <a:ext cx="144000" cy="143934"/>
            </a:xfrm>
            <a:prstGeom prst="ellipse">
              <a:avLst/>
            </a:prstGeom>
            <a:solidFill>
              <a:srgbClr val="92D050"/>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SamsungOne 600C" panose="020B0706030303020204" pitchFamily="34" charset="0"/>
                <a:ea typeface="SamsungOne 600C" panose="020B0706030303020204" pitchFamily="34" charset="0"/>
              </a:endParaRPr>
            </a:p>
          </p:txBody>
        </p:sp>
      </p:grpSp>
      <p:sp>
        <p:nvSpPr>
          <p:cNvPr id="38" name="TextBox 14"/>
          <p:cNvSpPr txBox="1"/>
          <p:nvPr/>
        </p:nvSpPr>
        <p:spPr>
          <a:xfrm>
            <a:off x="103068" y="811107"/>
            <a:ext cx="4630369" cy="81560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a:solidFill>
                  <a:srgbClr val="00B0F0"/>
                </a:solidFill>
                <a:latin typeface="SamsungOne 600C" panose="020B0706030303020204" pitchFamily="34" charset="0"/>
                <a:ea typeface="SamsungOne 600C" panose="020B0706030303020204" pitchFamily="34" charset="0"/>
              </a:rPr>
              <a:t>Problem Statement</a:t>
            </a:r>
          </a:p>
          <a:p>
            <a:r>
              <a:rPr lang="en-IN" sz="1100" dirty="0">
                <a:solidFill>
                  <a:schemeClr val="bg1"/>
                </a:solidFill>
                <a:latin typeface="SamsungOne 600C" panose="020B0706030303020204" pitchFamily="34" charset="0"/>
                <a:ea typeface="SamsungOne 600C" panose="020B0706030303020204" pitchFamily="34" charset="0"/>
              </a:rPr>
              <a:t>Develop an AI model to automatically detect and filter unsafe content in lock screen videos, using computer vision and NLP to identify graphic violence, hate speech, and other anomalies in real-time.</a:t>
            </a:r>
          </a:p>
        </p:txBody>
      </p:sp>
      <p:sp>
        <p:nvSpPr>
          <p:cNvPr id="39" name="TextBox 22"/>
          <p:cNvSpPr txBox="1"/>
          <p:nvPr/>
        </p:nvSpPr>
        <p:spPr>
          <a:xfrm>
            <a:off x="4947565" y="4996862"/>
            <a:ext cx="1891241" cy="7571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SamsungOne 600C" panose="020B0706030303020204" pitchFamily="34" charset="0"/>
                <a:ea typeface="SamsungOne 600C" panose="020B0706030303020204" pitchFamily="34" charset="0"/>
              </a:rPr>
              <a:t>Kick Off</a:t>
            </a:r>
          </a:p>
          <a:p>
            <a:endParaRPr lang="en-IN" sz="1400" dirty="0">
              <a:latin typeface="SamsungOne 600C" panose="020B0706030303020204" pitchFamily="34" charset="0"/>
              <a:ea typeface="SamsungOne 600C" panose="020B0706030303020204" pitchFamily="34" charset="0"/>
            </a:endParaRPr>
          </a:p>
          <a:p>
            <a:pPr lvl="0" eaLnBrk="0" fontAlgn="base" latinLnBrk="1" hangingPunct="0">
              <a:spcBef>
                <a:spcPct val="20000"/>
              </a:spcBef>
              <a:spcAft>
                <a:spcPct val="0"/>
              </a:spcAft>
              <a:buClr>
                <a:srgbClr val="FF9900"/>
              </a:buClr>
              <a:buSzPct val="80000"/>
              <a:defRPr/>
            </a:pPr>
            <a:r>
              <a:rPr lang="en-IN" altLang="ko-KR" sz="1100" dirty="0"/>
              <a:t>  Literature Review</a:t>
            </a:r>
            <a:endParaRPr lang="en-IN" sz="1100" dirty="0">
              <a:latin typeface="SamsungOne 600C" panose="020B0706030303020204" pitchFamily="34" charset="0"/>
              <a:ea typeface="SamsungOne 600C" panose="020B0706030303020204" pitchFamily="34" charset="0"/>
            </a:endParaRPr>
          </a:p>
        </p:txBody>
      </p:sp>
      <p:sp>
        <p:nvSpPr>
          <p:cNvPr id="40" name="TextBox 23"/>
          <p:cNvSpPr txBox="1"/>
          <p:nvPr/>
        </p:nvSpPr>
        <p:spPr>
          <a:xfrm>
            <a:off x="6757789" y="4976305"/>
            <a:ext cx="1922317" cy="106952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SamsungOne 600C" panose="020B0706030303020204" pitchFamily="34" charset="0"/>
                <a:ea typeface="SamsungOne 600C" panose="020B0706030303020204" pitchFamily="34" charset="0"/>
              </a:rPr>
              <a:t>Milestone 1</a:t>
            </a:r>
          </a:p>
          <a:p>
            <a:endParaRPr lang="en-IN" sz="1600" b="1" dirty="0">
              <a:latin typeface="SamsungOne 600C" panose="020B0706030303020204" pitchFamily="34" charset="0"/>
              <a:ea typeface="SamsungOne 600C" panose="020B0706030303020204" pitchFamily="34" charset="0"/>
            </a:endParaRPr>
          </a:p>
          <a:p>
            <a:r>
              <a:rPr lang="en-IN" altLang="ko-KR" sz="1050" dirty="0"/>
              <a:t>Dataset curation and </a:t>
            </a:r>
            <a:r>
              <a:rPr lang="en-IN" altLang="ko-KR" sz="1050" dirty="0" err="1"/>
              <a:t>preprocessing</a:t>
            </a:r>
            <a:r>
              <a:rPr lang="en-IN" altLang="ko-KR" sz="1050" dirty="0"/>
              <a:t>; model architecture design</a:t>
            </a:r>
            <a:endParaRPr lang="en-IN" altLang="ko-KR" sz="1050" dirty="0">
              <a:latin typeface="SamsungOne 600C" panose="020B0706030303020204" pitchFamily="34" charset="0"/>
              <a:ea typeface="SamsungOne 600C" panose="020B0706030303020204" pitchFamily="34" charset="0"/>
            </a:endParaRPr>
          </a:p>
        </p:txBody>
      </p:sp>
      <p:sp>
        <p:nvSpPr>
          <p:cNvPr id="42" name="TextBox 25"/>
          <p:cNvSpPr txBox="1"/>
          <p:nvPr/>
        </p:nvSpPr>
        <p:spPr>
          <a:xfrm>
            <a:off x="10678230" y="5023390"/>
            <a:ext cx="1532366" cy="114646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SamsungOne 600C" panose="020B0706030303020204" pitchFamily="34" charset="0"/>
                <a:ea typeface="SamsungOne 600C" panose="020B0706030303020204" pitchFamily="34" charset="0"/>
              </a:rPr>
              <a:t>Closure</a:t>
            </a:r>
            <a:endParaRPr lang="en-IN" sz="1050" dirty="0">
              <a:latin typeface="SamsungOne 600C" panose="020B0706030303020204" pitchFamily="34" charset="0"/>
              <a:ea typeface="SamsungOne 600C" panose="020B0706030303020204" pitchFamily="34" charset="0"/>
            </a:endParaRPr>
          </a:p>
          <a:p>
            <a:endParaRPr lang="en-IN" altLang="ko-KR" sz="1050" b="1" dirty="0">
              <a:latin typeface="SamsungOne 600C" panose="020B0706030303020204" pitchFamily="34" charset="0"/>
            </a:endParaRPr>
          </a:p>
          <a:p>
            <a:r>
              <a:rPr lang="en-IN" altLang="ko-KR" sz="1050" dirty="0"/>
              <a:t>Video content anomaly detection, Optimized deployment pipeline and validation report.</a:t>
            </a:r>
          </a:p>
        </p:txBody>
      </p:sp>
      <p:sp>
        <p:nvSpPr>
          <p:cNvPr id="43" name="TextBox 31"/>
          <p:cNvSpPr txBox="1"/>
          <p:nvPr/>
        </p:nvSpPr>
        <p:spPr>
          <a:xfrm>
            <a:off x="5001133" y="518641"/>
            <a:ext cx="7172271" cy="132343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400" b="1" dirty="0">
                <a:solidFill>
                  <a:schemeClr val="accent6"/>
                </a:solidFill>
                <a:latin typeface="SamsungOne 600C" panose="020B0706030303020204" pitchFamily="34" charset="0"/>
                <a:ea typeface="SamsungOne 600C" panose="020B0706030303020204" pitchFamily="34" charset="0"/>
              </a:rPr>
              <a:t>Deliverables</a:t>
            </a:r>
            <a:endParaRPr lang="en-IN" sz="1100" dirty="0">
              <a:latin typeface="SamsungOne 600C" panose="020B0706030303020204" pitchFamily="34" charset="0"/>
            </a:endParaRP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Trained anomaly detection model</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REST API for integration</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Validation dataset</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Technical documentation</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Demo application.</a:t>
            </a:r>
          </a:p>
        </p:txBody>
      </p:sp>
      <p:sp>
        <p:nvSpPr>
          <p:cNvPr id="44" name="TextBox 32"/>
          <p:cNvSpPr txBox="1"/>
          <p:nvPr/>
        </p:nvSpPr>
        <p:spPr>
          <a:xfrm>
            <a:off x="8680106" y="4958757"/>
            <a:ext cx="1922317" cy="88793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SamsungOne 600C" panose="020B0706030303020204" pitchFamily="34" charset="0"/>
                <a:ea typeface="SamsungOne 600C" panose="020B0706030303020204" pitchFamily="34" charset="0"/>
              </a:rPr>
              <a:t>Milestone 2</a:t>
            </a:r>
          </a:p>
          <a:p>
            <a:pPr eaLnBrk="0" fontAlgn="base" latinLnBrk="1" hangingPunct="0">
              <a:spcBef>
                <a:spcPct val="20000"/>
              </a:spcBef>
              <a:spcAft>
                <a:spcPct val="0"/>
              </a:spcAft>
              <a:buClr>
                <a:srgbClr val="FF9900"/>
              </a:buClr>
              <a:buSzPct val="80000"/>
              <a:defRPr/>
            </a:pPr>
            <a:endParaRPr lang="en-IN" altLang="ko-KR" sz="1050" dirty="0"/>
          </a:p>
          <a:p>
            <a:pPr eaLnBrk="0" fontAlgn="base" latinLnBrk="1" hangingPunct="0">
              <a:spcBef>
                <a:spcPct val="20000"/>
              </a:spcBef>
              <a:spcAft>
                <a:spcPct val="0"/>
              </a:spcAft>
              <a:buClr>
                <a:srgbClr val="FF9900"/>
              </a:buClr>
              <a:buSzPct val="80000"/>
              <a:defRPr/>
            </a:pPr>
            <a:r>
              <a:rPr lang="en-IN" altLang="ko-KR" sz="1050" dirty="0"/>
              <a:t>Multimodal prototype (vision + NLP) with initial testing.</a:t>
            </a:r>
            <a:endParaRPr lang="en-IN" altLang="ko-KR" sz="1050" b="1" dirty="0"/>
          </a:p>
        </p:txBody>
      </p:sp>
      <p:sp>
        <p:nvSpPr>
          <p:cNvPr id="45" name="Rectangle 44"/>
          <p:cNvSpPr>
            <a:spLocks noChangeArrowheads="1"/>
          </p:cNvSpPr>
          <p:nvPr/>
        </p:nvSpPr>
        <p:spPr bwMode="auto">
          <a:xfrm>
            <a:off x="-18596" y="-5252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46" name="TextBox 30"/>
          <p:cNvSpPr txBox="1"/>
          <p:nvPr/>
        </p:nvSpPr>
        <p:spPr>
          <a:xfrm>
            <a:off x="3331492" y="5938547"/>
            <a:ext cx="1487495" cy="30777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400" dirty="0">
              <a:solidFill>
                <a:schemeClr val="bg1"/>
              </a:solidFill>
              <a:latin typeface="SamsungOne 600C" panose="020B0706030303020204" pitchFamily="34" charset="0"/>
              <a:ea typeface="SamsungOne 600C" panose="020B0706030303020204" pitchFamily="34" charset="0"/>
            </a:endParaRPr>
          </a:p>
        </p:txBody>
      </p:sp>
      <p:sp>
        <p:nvSpPr>
          <p:cNvPr id="47" name="TextBox 33">
            <a:extLst>
              <a:ext uri="{FF2B5EF4-FFF2-40B4-BE49-F238E27FC236}">
                <a16:creationId xmlns:a16="http://schemas.microsoft.com/office/drawing/2014/main" id="{37682B1A-6DCD-4377-8004-8E8D30FC6C88}"/>
              </a:ext>
            </a:extLst>
          </p:cNvPr>
          <p:cNvSpPr txBox="1"/>
          <p:nvPr/>
        </p:nvSpPr>
        <p:spPr>
          <a:xfrm>
            <a:off x="103069" y="2024344"/>
            <a:ext cx="4630369" cy="166199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a:solidFill>
                  <a:srgbClr val="00B0F0"/>
                </a:solidFill>
                <a:latin typeface="SamsungOne 600C" panose="020B0706030303020204" pitchFamily="34" charset="0"/>
                <a:ea typeface="SamsungOne 600C" panose="020B0706030303020204" pitchFamily="34" charset="0"/>
              </a:rPr>
              <a:t>Description</a:t>
            </a:r>
          </a:p>
          <a:p>
            <a:r>
              <a:rPr lang="en-IN" sz="1100" dirty="0">
                <a:solidFill>
                  <a:schemeClr val="bg1"/>
                </a:solidFill>
                <a:latin typeface="SamsungOne 600C" panose="020B0706030303020204" pitchFamily="34" charset="0"/>
                <a:ea typeface="SamsungOne 600C" panose="020B0706030303020204" pitchFamily="34" charset="0"/>
              </a:rPr>
              <a:t>With the rise of dynamic lock screen content, manual moderation is inefficient. This project leverages deep learning to analyse video frames and audio transcripts, flagging harmful content. The system ensures user safety by preventing unsafe stories from reaching devices, while reducing manual review workload.</a:t>
            </a:r>
          </a:p>
          <a:p>
            <a:endParaRPr lang="en-IN" sz="1100" dirty="0">
              <a:solidFill>
                <a:schemeClr val="bg1"/>
              </a:solidFill>
              <a:latin typeface="SamsungOne 600C" panose="020B0706030303020204" pitchFamily="34" charset="0"/>
              <a:ea typeface="SamsungOne 600C" panose="020B0706030303020204" pitchFamily="34" charset="0"/>
            </a:endParaRPr>
          </a:p>
          <a:p>
            <a:endParaRPr lang="en-IN" sz="1100" dirty="0">
              <a:solidFill>
                <a:schemeClr val="bg1"/>
              </a:solidFill>
              <a:latin typeface="SamsungOne 600C" panose="020B0706030303020204" pitchFamily="34" charset="0"/>
              <a:ea typeface="SamsungOne 600C" panose="020B0706030303020204" pitchFamily="34" charset="0"/>
            </a:endParaRPr>
          </a:p>
          <a:p>
            <a:endParaRPr lang="en-IN" sz="1100" dirty="0">
              <a:solidFill>
                <a:schemeClr val="bg1"/>
              </a:solidFill>
              <a:latin typeface="SamsungOne 600C" panose="020B0706030303020204" pitchFamily="34" charset="0"/>
              <a:ea typeface="SamsungOne 600C" panose="020B0706030303020204" pitchFamily="34" charset="0"/>
            </a:endParaRPr>
          </a:p>
        </p:txBody>
      </p:sp>
      <p:sp>
        <p:nvSpPr>
          <p:cNvPr id="48" name="TextBox 34">
            <a:extLst>
              <a:ext uri="{FF2B5EF4-FFF2-40B4-BE49-F238E27FC236}">
                <a16:creationId xmlns:a16="http://schemas.microsoft.com/office/drawing/2014/main" id="{7E17E4F1-C16A-4B5A-9F7C-DCC76F886EB0}"/>
              </a:ext>
            </a:extLst>
          </p:cNvPr>
          <p:cNvSpPr txBox="1"/>
          <p:nvPr/>
        </p:nvSpPr>
        <p:spPr>
          <a:xfrm>
            <a:off x="5001133" y="1851771"/>
            <a:ext cx="2704545" cy="12895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400" b="1" dirty="0">
                <a:solidFill>
                  <a:schemeClr val="accent6"/>
                </a:solidFill>
                <a:latin typeface="SamsungOne 600C" panose="020B0706030303020204" pitchFamily="34" charset="0"/>
                <a:ea typeface="SamsungOne 600C" panose="020B0706030303020204" pitchFamily="34" charset="0"/>
              </a:rPr>
              <a:t>KPI</a:t>
            </a:r>
            <a:endParaRPr lang="en-IN" sz="1100" dirty="0">
              <a:latin typeface="SamsungOne 600C" panose="020B0706030303020204" pitchFamily="34" charset="0"/>
            </a:endParaRP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Accuracy ≥ 90%</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False Positive Rate ≤ 7%</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Processing Time – Based on video length (Preference: &lt;15-20s)</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Content Coverage ≥ 90%</a:t>
            </a:r>
          </a:p>
        </p:txBody>
      </p:sp>
      <p:sp>
        <p:nvSpPr>
          <p:cNvPr id="49" name="TextBox 35">
            <a:extLst>
              <a:ext uri="{FF2B5EF4-FFF2-40B4-BE49-F238E27FC236}">
                <a16:creationId xmlns:a16="http://schemas.microsoft.com/office/drawing/2014/main" id="{F9F9D1E7-24F5-464F-9ACD-D51C23B911BE}"/>
              </a:ext>
            </a:extLst>
          </p:cNvPr>
          <p:cNvSpPr txBox="1"/>
          <p:nvPr/>
        </p:nvSpPr>
        <p:spPr>
          <a:xfrm>
            <a:off x="5001133" y="3034482"/>
            <a:ext cx="3259788" cy="172970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400" b="1" dirty="0">
                <a:solidFill>
                  <a:schemeClr val="accent6"/>
                </a:solidFill>
                <a:latin typeface="SamsungOne 600C" panose="020B0706030303020204" pitchFamily="34" charset="0"/>
                <a:ea typeface="SamsungOne 600C" panose="020B0706030303020204" pitchFamily="34" charset="0"/>
              </a:rPr>
              <a:t>Pre-Requisite</a:t>
            </a:r>
            <a:endParaRPr lang="en-IN" sz="1400" dirty="0">
              <a:solidFill>
                <a:schemeClr val="tx1">
                  <a:lumMod val="50000"/>
                  <a:lumOff val="50000"/>
                </a:schemeClr>
              </a:solidFill>
              <a:latin typeface="SamsungOne 600C" panose="020B0706030303020204" pitchFamily="34" charset="0"/>
              <a:ea typeface="SamsungOne 600C" panose="020B0706030303020204" pitchFamily="34" charset="0"/>
            </a:endParaRP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Python, </a:t>
            </a: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TensorFlow/</a:t>
            </a:r>
            <a:r>
              <a:rPr lang="en-IN" altLang="ko-KR" sz="1100" dirty="0" err="1">
                <a:latin typeface="SamsungOne 600C" panose="020B0706030303020204" pitchFamily="34" charset="0"/>
                <a:ea typeface="SamsungOne 600C" panose="020B0706030303020204" pitchFamily="34" charset="0"/>
              </a:rPr>
              <a:t>PyTorch</a:t>
            </a:r>
            <a:endParaRPr lang="en-IN" altLang="ko-KR" sz="1100" dirty="0">
              <a:latin typeface="SamsungOne 600C" panose="020B0706030303020204" pitchFamily="34" charset="0"/>
              <a:ea typeface="SamsungOne 600C" panose="020B0706030303020204" pitchFamily="34" charset="0"/>
            </a:endParaRP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OpenCV</a:t>
            </a: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NLP frameworks</a:t>
            </a: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 cloud APIs</a:t>
            </a: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ethical AI guidelines</a:t>
            </a:r>
          </a:p>
          <a:p>
            <a:pPr marL="185738" lvl="0"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altLang="ko-KR" sz="1100" dirty="0">
                <a:latin typeface="SamsungOne 600C" panose="020B0706030303020204" pitchFamily="34" charset="0"/>
                <a:ea typeface="SamsungOne 600C" panose="020B0706030303020204" pitchFamily="34" charset="0"/>
              </a:rPr>
              <a:t>Dataset curation skills..</a:t>
            </a:r>
            <a:endParaRPr lang="en-IN" sz="1100" dirty="0">
              <a:latin typeface="SamsungOne 600C" panose="020B0706030303020204" pitchFamily="34" charset="0"/>
            </a:endParaRPr>
          </a:p>
        </p:txBody>
      </p:sp>
      <p:sp>
        <p:nvSpPr>
          <p:cNvPr id="50" name="Rectangle 49">
            <a:extLst>
              <a:ext uri="{FF2B5EF4-FFF2-40B4-BE49-F238E27FC236}">
                <a16:creationId xmlns:a16="http://schemas.microsoft.com/office/drawing/2014/main" id="{1FC11364-FB34-4EF5-97C2-BB000D816285}"/>
              </a:ext>
            </a:extLst>
          </p:cNvPr>
          <p:cNvSpPr/>
          <p:nvPr/>
        </p:nvSpPr>
        <p:spPr>
          <a:xfrm>
            <a:off x="188558" y="5656930"/>
            <a:ext cx="1377365"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dirty="0">
                <a:solidFill>
                  <a:srgbClr val="00B0F0"/>
                </a:solidFill>
                <a:latin typeface="SamsungOne 600C" panose="020B0706030303020204" pitchFamily="34" charset="0"/>
              </a:rPr>
              <a:t>Work let Details</a:t>
            </a:r>
          </a:p>
        </p:txBody>
      </p:sp>
      <p:sp>
        <p:nvSpPr>
          <p:cNvPr id="51" name="Rectangle 50">
            <a:extLst>
              <a:ext uri="{FF2B5EF4-FFF2-40B4-BE49-F238E27FC236}">
                <a16:creationId xmlns:a16="http://schemas.microsoft.com/office/drawing/2014/main" id="{3E46EFB1-F370-4F90-9D3B-7B8F8849A3D2}"/>
              </a:ext>
            </a:extLst>
          </p:cNvPr>
          <p:cNvSpPr/>
          <p:nvPr/>
        </p:nvSpPr>
        <p:spPr>
          <a:xfrm>
            <a:off x="3758228" y="6338657"/>
            <a:ext cx="1043723"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1200"/>
              </a:spcAft>
              <a:buClrTx/>
              <a:buSzTx/>
              <a:buFontTx/>
              <a:buNone/>
              <a:tabLst/>
              <a:defRPr/>
            </a:pPr>
            <a:r>
              <a:rPr lang="en-IN" sz="1200" b="1" dirty="0">
                <a:solidFill>
                  <a:schemeClr val="bg1"/>
                </a:solidFill>
                <a:latin typeface="SamsungOne 800" panose="020B0903030303020204" pitchFamily="34" charset="0"/>
              </a:rPr>
              <a:t>Mentor</a:t>
            </a:r>
            <a:endParaRPr lang="en-US" sz="1200" b="1" dirty="0">
              <a:solidFill>
                <a:schemeClr val="bg1"/>
              </a:solidFill>
              <a:latin typeface="SamsungOne 800" panose="020B0903030303020204" pitchFamily="34" charset="0"/>
            </a:endParaRPr>
          </a:p>
        </p:txBody>
      </p:sp>
      <p:sp>
        <p:nvSpPr>
          <p:cNvPr id="52" name="Rectangle 51">
            <a:extLst>
              <a:ext uri="{FF2B5EF4-FFF2-40B4-BE49-F238E27FC236}">
                <a16:creationId xmlns:a16="http://schemas.microsoft.com/office/drawing/2014/main" id="{737A4E33-D5FD-4300-BFD0-3868C663BA8B}"/>
              </a:ext>
            </a:extLst>
          </p:cNvPr>
          <p:cNvSpPr/>
          <p:nvPr/>
        </p:nvSpPr>
        <p:spPr>
          <a:xfrm>
            <a:off x="358297" y="6338659"/>
            <a:ext cx="1377493" cy="27699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chemeClr val="bg1"/>
                </a:solidFill>
                <a:effectLst/>
                <a:uLnTx/>
                <a:uFillTx/>
                <a:latin typeface="SamsungOne 800" panose="020B0903030303020204" pitchFamily="34" charset="0"/>
                <a:ea typeface="SamsungOne 800" panose="020B0903030303020204" pitchFamily="34" charset="0"/>
                <a:cs typeface="Samsung Sharp Sans Bold" pitchFamily="2" charset="0"/>
              </a:rPr>
              <a:t>Duration (Months)</a:t>
            </a:r>
          </a:p>
        </p:txBody>
      </p:sp>
      <p:sp>
        <p:nvSpPr>
          <p:cNvPr id="53" name="Rectangle 52">
            <a:extLst>
              <a:ext uri="{FF2B5EF4-FFF2-40B4-BE49-F238E27FC236}">
                <a16:creationId xmlns:a16="http://schemas.microsoft.com/office/drawing/2014/main" id="{7861BD82-BE8F-4C9E-9707-FC862A59D465}"/>
              </a:ext>
            </a:extLst>
          </p:cNvPr>
          <p:cNvSpPr/>
          <p:nvPr/>
        </p:nvSpPr>
        <p:spPr>
          <a:xfrm>
            <a:off x="848835" y="5898532"/>
            <a:ext cx="367408"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dirty="0">
                <a:solidFill>
                  <a:schemeClr val="bg1"/>
                </a:solidFill>
                <a:latin typeface="Samsung Sharp Sans Bold" pitchFamily="2" charset="0"/>
                <a:ea typeface="Samsung Sharp Sans Bold" pitchFamily="2" charset="0"/>
                <a:cs typeface="Samsung Sharp Sans Bold" pitchFamily="2" charset="0"/>
              </a:rPr>
              <a:t>3</a:t>
            </a:r>
            <a:endParaRPr kumimoji="0" lang="en-IN" sz="2800" b="1" i="0" u="none" strike="noStrike" kern="1200" cap="none" spc="0" normalizeH="0" baseline="0" noProof="0" dirty="0">
              <a:ln>
                <a:noFill/>
              </a:ln>
              <a:solidFill>
                <a:schemeClr val="bg1"/>
              </a:solidFill>
              <a:effectLst/>
              <a:uLnTx/>
              <a:uFillTx/>
              <a:latin typeface="Samsung Sharp Sans Bold" pitchFamily="2" charset="0"/>
              <a:ea typeface="Samsung Sharp Sans Bold" pitchFamily="2" charset="0"/>
              <a:cs typeface="Samsung Sharp Sans Bold" pitchFamily="2" charset="0"/>
            </a:endParaRPr>
          </a:p>
        </p:txBody>
      </p:sp>
      <p:sp>
        <p:nvSpPr>
          <p:cNvPr id="54" name="Rectangle 53">
            <a:extLst>
              <a:ext uri="{FF2B5EF4-FFF2-40B4-BE49-F238E27FC236}">
                <a16:creationId xmlns:a16="http://schemas.microsoft.com/office/drawing/2014/main" id="{06848F08-1A23-4922-8BEC-9DD5BF6B4403}"/>
              </a:ext>
            </a:extLst>
          </p:cNvPr>
          <p:cNvSpPr/>
          <p:nvPr/>
        </p:nvSpPr>
        <p:spPr>
          <a:xfrm>
            <a:off x="1952359" y="6338658"/>
            <a:ext cx="1213730" cy="276999"/>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chemeClr val="bg1"/>
                </a:solidFill>
                <a:effectLst/>
                <a:uLnTx/>
                <a:uFillTx/>
                <a:latin typeface="SamsungOne 800" panose="020B0903030303020204" pitchFamily="34" charset="0"/>
                <a:ea typeface="SamsungOne 800" panose="020B0903030303020204" pitchFamily="34" charset="0"/>
                <a:cs typeface="Samsung Sharp Sans Bold" pitchFamily="2" charset="0"/>
              </a:rPr>
              <a:t>Members Count</a:t>
            </a:r>
          </a:p>
        </p:txBody>
      </p:sp>
      <p:sp>
        <p:nvSpPr>
          <p:cNvPr id="55" name="Rectangle 54">
            <a:extLst>
              <a:ext uri="{FF2B5EF4-FFF2-40B4-BE49-F238E27FC236}">
                <a16:creationId xmlns:a16="http://schemas.microsoft.com/office/drawing/2014/main" id="{51CF6E8B-5665-4378-B53B-78180DF3EEFE}"/>
              </a:ext>
            </a:extLst>
          </p:cNvPr>
          <p:cNvSpPr/>
          <p:nvPr/>
        </p:nvSpPr>
        <p:spPr>
          <a:xfrm>
            <a:off x="2337739" y="5898532"/>
            <a:ext cx="367408"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chemeClr val="bg1"/>
                </a:solidFill>
                <a:effectLst/>
                <a:uLnTx/>
                <a:uFillTx/>
                <a:latin typeface="Samsung Sharp Sans Bold" pitchFamily="2" charset="0"/>
                <a:ea typeface="Samsung Sharp Sans Bold" pitchFamily="2" charset="0"/>
                <a:cs typeface="Samsung Sharp Sans Bold" pitchFamily="2" charset="0"/>
              </a:rPr>
              <a:t>4</a:t>
            </a:r>
          </a:p>
        </p:txBody>
      </p:sp>
      <p:sp>
        <p:nvSpPr>
          <p:cNvPr id="56" name="TextBox 36">
            <a:extLst>
              <a:ext uri="{FF2B5EF4-FFF2-40B4-BE49-F238E27FC236}">
                <a16:creationId xmlns:a16="http://schemas.microsoft.com/office/drawing/2014/main" id="{F0C54A3B-F3CE-4B53-8FCB-9E5F7F921851}"/>
              </a:ext>
            </a:extLst>
          </p:cNvPr>
          <p:cNvSpPr txBox="1"/>
          <p:nvPr/>
        </p:nvSpPr>
        <p:spPr>
          <a:xfrm>
            <a:off x="8529468" y="2821133"/>
            <a:ext cx="3115877" cy="193283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400" b="1" dirty="0">
                <a:solidFill>
                  <a:schemeClr val="accent6"/>
                </a:solidFill>
                <a:latin typeface="SamsungOne 600C" panose="020B0706030303020204" pitchFamily="34" charset="0"/>
              </a:rPr>
              <a:t>Tech Stack</a:t>
            </a:r>
            <a:endParaRPr lang="en-IN" dirty="0"/>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Python,</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err="1">
                <a:latin typeface="SamsungOne 600C" panose="020B0706030303020204" pitchFamily="34" charset="0"/>
              </a:rPr>
              <a:t>PyTorch</a:t>
            </a:r>
            <a:endParaRPr lang="en-IN" sz="1100" dirty="0">
              <a:latin typeface="SamsungOne 600C" panose="020B0706030303020204" pitchFamily="34" charset="0"/>
            </a:endParaRP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Transformer</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OpenCV</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 Flask</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Docker</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AWS/GCP</a:t>
            </a:r>
          </a:p>
          <a:p>
            <a:pPr marL="185738" indent="-185738" eaLnBrk="0" fontAlgn="base" latinLnBrk="1" hangingPunct="0">
              <a:spcBef>
                <a:spcPct val="20000"/>
              </a:spcBef>
              <a:spcAft>
                <a:spcPct val="0"/>
              </a:spcAft>
              <a:buClr>
                <a:srgbClr val="FF9900"/>
              </a:buClr>
              <a:buSzPct val="80000"/>
              <a:buFont typeface="Wingdings" panose="05000000000000000000" pitchFamily="2" charset="2"/>
              <a:buChar char="Ø"/>
              <a:defRPr/>
            </a:pPr>
            <a:r>
              <a:rPr lang="en-IN" sz="1100" dirty="0">
                <a:latin typeface="SamsungOne 600C" panose="020B0706030303020204" pitchFamily="34" charset="0"/>
              </a:rPr>
              <a:t> </a:t>
            </a:r>
            <a:r>
              <a:rPr lang="en-IN" sz="1100" dirty="0" err="1">
                <a:latin typeface="SamsungOne 600C" panose="020B0706030303020204" pitchFamily="34" charset="0"/>
              </a:rPr>
              <a:t>FFmpeg</a:t>
            </a:r>
            <a:r>
              <a:rPr lang="en-IN" sz="1100" dirty="0">
                <a:latin typeface="SamsungOne 600C" panose="020B0706030303020204" pitchFamily="34" charset="0"/>
              </a:rPr>
              <a:t>.</a:t>
            </a:r>
          </a:p>
        </p:txBody>
      </p:sp>
      <p:sp>
        <p:nvSpPr>
          <p:cNvPr id="57" name="Rectangle 56">
            <a:extLst>
              <a:ext uri="{FF2B5EF4-FFF2-40B4-BE49-F238E27FC236}">
                <a16:creationId xmlns:a16="http://schemas.microsoft.com/office/drawing/2014/main" id="{394622DE-51C8-4755-AB3E-9C1032F0EA12}"/>
              </a:ext>
            </a:extLst>
          </p:cNvPr>
          <p:cNvSpPr/>
          <p:nvPr/>
        </p:nvSpPr>
        <p:spPr>
          <a:xfrm>
            <a:off x="3881366" y="5861356"/>
            <a:ext cx="367408"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800" b="1" i="0" u="none" strike="noStrike" kern="1200" cap="none" spc="0" normalizeH="0" baseline="0" noProof="0" dirty="0">
                <a:ln>
                  <a:noFill/>
                </a:ln>
                <a:solidFill>
                  <a:schemeClr val="bg1"/>
                </a:solidFill>
                <a:effectLst/>
                <a:uLnTx/>
                <a:uFillTx/>
                <a:latin typeface="Samsung Sharp Sans Bold" pitchFamily="2" charset="0"/>
                <a:ea typeface="Samsung Sharp Sans Bold" pitchFamily="2" charset="0"/>
                <a:cs typeface="Samsung Sharp Sans Bold" pitchFamily="2" charset="0"/>
              </a:rPr>
              <a:t>3</a:t>
            </a:r>
          </a:p>
        </p:txBody>
      </p:sp>
      <p:grpSp>
        <p:nvGrpSpPr>
          <p:cNvPr id="58" name="Group 57">
            <a:extLst>
              <a:ext uri="{FF2B5EF4-FFF2-40B4-BE49-F238E27FC236}">
                <a16:creationId xmlns:a16="http://schemas.microsoft.com/office/drawing/2014/main" id="{51C9A902-537D-4CF8-A57B-DD072F663695}"/>
              </a:ext>
            </a:extLst>
          </p:cNvPr>
          <p:cNvGrpSpPr/>
          <p:nvPr/>
        </p:nvGrpSpPr>
        <p:grpSpPr>
          <a:xfrm>
            <a:off x="7243514" y="521307"/>
            <a:ext cx="4834984" cy="2064226"/>
            <a:chOff x="7189237" y="500137"/>
            <a:chExt cx="4834984" cy="2064226"/>
          </a:xfrm>
        </p:grpSpPr>
        <p:sp>
          <p:nvSpPr>
            <p:cNvPr id="65" name="Rectangle: Rounded Corners 45">
              <a:extLst>
                <a:ext uri="{FF2B5EF4-FFF2-40B4-BE49-F238E27FC236}">
                  <a16:creationId xmlns:a16="http://schemas.microsoft.com/office/drawing/2014/main" id="{0821CB9C-6B3F-4B96-BC7B-D1A8A3433FED}"/>
                </a:ext>
              </a:extLst>
            </p:cNvPr>
            <p:cNvSpPr/>
            <p:nvPr/>
          </p:nvSpPr>
          <p:spPr>
            <a:xfrm>
              <a:off x="8454693" y="1101090"/>
              <a:ext cx="2334983" cy="12632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IN" sz="1200" dirty="0"/>
            </a:p>
          </p:txBody>
        </p:sp>
        <p:sp>
          <p:nvSpPr>
            <p:cNvPr id="66" name="Rectangle 65">
              <a:extLst>
                <a:ext uri="{FF2B5EF4-FFF2-40B4-BE49-F238E27FC236}">
                  <a16:creationId xmlns:a16="http://schemas.microsoft.com/office/drawing/2014/main" id="{13199D7D-ABCB-4DB8-91B2-35A21ACE3EE1}"/>
                </a:ext>
              </a:extLst>
            </p:cNvPr>
            <p:cNvSpPr/>
            <p:nvPr/>
          </p:nvSpPr>
          <p:spPr>
            <a:xfrm>
              <a:off x="8481084" y="1458231"/>
              <a:ext cx="1118669" cy="628283"/>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800" dirty="0"/>
                <a:t>Feature extraction AI models </a:t>
              </a:r>
              <a:r>
                <a:rPr lang="en-IN" sz="800" dirty="0" err="1"/>
                <a:t>Eg</a:t>
              </a:r>
              <a:r>
                <a:rPr lang="en-IN" sz="800" dirty="0"/>
                <a:t>, </a:t>
              </a:r>
              <a:r>
                <a:rPr lang="fr-FR" sz="800" dirty="0" err="1"/>
                <a:t>ResNet</a:t>
              </a:r>
              <a:r>
                <a:rPr lang="fr-FR" sz="800" dirty="0"/>
                <a:t>, </a:t>
              </a:r>
              <a:r>
                <a:rPr lang="fr-FR" sz="800" dirty="0" err="1"/>
                <a:t>EfficientNet</a:t>
              </a:r>
              <a:r>
                <a:rPr lang="fr-FR" sz="800" dirty="0"/>
                <a:t>, or Vision Transformers</a:t>
              </a:r>
              <a:endParaRPr lang="en-IN" sz="800" dirty="0"/>
            </a:p>
          </p:txBody>
        </p:sp>
        <p:sp>
          <p:nvSpPr>
            <p:cNvPr id="67" name="Rectangle 66">
              <a:extLst>
                <a:ext uri="{FF2B5EF4-FFF2-40B4-BE49-F238E27FC236}">
                  <a16:creationId xmlns:a16="http://schemas.microsoft.com/office/drawing/2014/main" id="{76FFE03B-92B7-4B6F-B27B-A2662C636ADE}"/>
                </a:ext>
              </a:extLst>
            </p:cNvPr>
            <p:cNvSpPr/>
            <p:nvPr/>
          </p:nvSpPr>
          <p:spPr>
            <a:xfrm>
              <a:off x="9635380" y="1458231"/>
              <a:ext cx="1118669" cy="628283"/>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900" dirty="0"/>
                <a:t>Inappropriate visual or audio content, </a:t>
              </a:r>
              <a:r>
                <a:rPr lang="en-IN" sz="900" dirty="0" err="1"/>
                <a:t>Eg</a:t>
              </a:r>
              <a:r>
                <a:rPr lang="en-IN" sz="900" dirty="0"/>
                <a:t>, OpenCV, YOLOv8, CLIP, and Whisper</a:t>
              </a:r>
            </a:p>
          </p:txBody>
        </p:sp>
        <p:sp>
          <p:nvSpPr>
            <p:cNvPr id="68" name="Rectangle 67">
              <a:extLst>
                <a:ext uri="{FF2B5EF4-FFF2-40B4-BE49-F238E27FC236}">
                  <a16:creationId xmlns:a16="http://schemas.microsoft.com/office/drawing/2014/main" id="{6866396A-8567-4C8B-9E6F-E38684BCC7B9}"/>
                </a:ext>
              </a:extLst>
            </p:cNvPr>
            <p:cNvSpPr/>
            <p:nvPr/>
          </p:nvSpPr>
          <p:spPr>
            <a:xfrm>
              <a:off x="9179234" y="1191954"/>
              <a:ext cx="868840" cy="1739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200" dirty="0"/>
                <a:t>AI Models</a:t>
              </a:r>
            </a:p>
          </p:txBody>
        </p:sp>
        <p:pic>
          <p:nvPicPr>
            <p:cNvPr id="69" name="Picture 68">
              <a:extLst>
                <a:ext uri="{FF2B5EF4-FFF2-40B4-BE49-F238E27FC236}">
                  <a16:creationId xmlns:a16="http://schemas.microsoft.com/office/drawing/2014/main" id="{DE4E29A5-7642-4F31-B869-5DF91CEF7F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75594" y="500137"/>
              <a:ext cx="315777" cy="767450"/>
            </a:xfrm>
            <a:prstGeom prst="roundRect">
              <a:avLst>
                <a:gd name="adj" fmla="val 9533"/>
              </a:avLst>
            </a:prstGeom>
          </p:spPr>
        </p:pic>
        <p:sp>
          <p:nvSpPr>
            <p:cNvPr id="70" name="TextBox 50">
              <a:extLst>
                <a:ext uri="{FF2B5EF4-FFF2-40B4-BE49-F238E27FC236}">
                  <a16:creationId xmlns:a16="http://schemas.microsoft.com/office/drawing/2014/main" id="{E2065373-A70A-4BBF-B37B-AC0AB2D28286}"/>
                </a:ext>
              </a:extLst>
            </p:cNvPr>
            <p:cNvSpPr txBox="1"/>
            <p:nvPr/>
          </p:nvSpPr>
          <p:spPr>
            <a:xfrm>
              <a:off x="7336025" y="1235569"/>
              <a:ext cx="111866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t>Mobile Device</a:t>
              </a:r>
            </a:p>
          </p:txBody>
        </p:sp>
        <p:cxnSp>
          <p:nvCxnSpPr>
            <p:cNvPr id="71" name="Straight Arrow Connector 70">
              <a:extLst>
                <a:ext uri="{FF2B5EF4-FFF2-40B4-BE49-F238E27FC236}">
                  <a16:creationId xmlns:a16="http://schemas.microsoft.com/office/drawing/2014/main" id="{35BD7853-FB98-415B-B7A3-E1A73BDA65D5}"/>
                </a:ext>
              </a:extLst>
            </p:cNvPr>
            <p:cNvCxnSpPr>
              <a:cxnSpLocks/>
            </p:cNvCxnSpPr>
            <p:nvPr/>
          </p:nvCxnSpPr>
          <p:spPr>
            <a:xfrm>
              <a:off x="7828735" y="1449772"/>
              <a:ext cx="0" cy="155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2" name="Picture 71" descr="National Drug and Alcohol Facts Week 2021">
              <a:extLst>
                <a:ext uri="{FF2B5EF4-FFF2-40B4-BE49-F238E27FC236}">
                  <a16:creationId xmlns:a16="http://schemas.microsoft.com/office/drawing/2014/main" id="{F5F8CFE0-F4F3-4CE4-8ADC-32FFFDED06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7383891" y="1706323"/>
              <a:ext cx="391055" cy="42911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72" descr="Support Election on a World Background, 3D Rendering. World Country Map As  Political Background Concept Stock Illustration - Illustration of party,  democracy: 135357675">
              <a:extLst>
                <a:ext uri="{FF2B5EF4-FFF2-40B4-BE49-F238E27FC236}">
                  <a16:creationId xmlns:a16="http://schemas.microsoft.com/office/drawing/2014/main" id="{368A3F19-C3A0-4D2D-A679-F3EBB486071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7841570" y="1706323"/>
              <a:ext cx="395123" cy="429111"/>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54">
              <a:extLst>
                <a:ext uri="{FF2B5EF4-FFF2-40B4-BE49-F238E27FC236}">
                  <a16:creationId xmlns:a16="http://schemas.microsoft.com/office/drawing/2014/main" id="{EA3F04F3-1303-405C-854A-A9D5418A47D9}"/>
                </a:ext>
              </a:extLst>
            </p:cNvPr>
            <p:cNvSpPr txBox="1"/>
            <p:nvPr/>
          </p:nvSpPr>
          <p:spPr>
            <a:xfrm>
              <a:off x="7189237" y="2164253"/>
              <a:ext cx="1118670"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000" dirty="0"/>
                <a:t>Video story on mobile screen</a:t>
              </a:r>
            </a:p>
          </p:txBody>
        </p:sp>
        <p:sp>
          <p:nvSpPr>
            <p:cNvPr id="75" name="TextBox 55">
              <a:extLst>
                <a:ext uri="{FF2B5EF4-FFF2-40B4-BE49-F238E27FC236}">
                  <a16:creationId xmlns:a16="http://schemas.microsoft.com/office/drawing/2014/main" id="{99FD8F49-8790-48B0-B60E-E68D1B881358}"/>
                </a:ext>
              </a:extLst>
            </p:cNvPr>
            <p:cNvSpPr txBox="1"/>
            <p:nvPr/>
          </p:nvSpPr>
          <p:spPr>
            <a:xfrm>
              <a:off x="8534580" y="2342386"/>
              <a:ext cx="2158149" cy="215444"/>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800" b="1" i="0" dirty="0">
                  <a:effectLst/>
                  <a:latin typeface="Arial" panose="020B0604020202020204" pitchFamily="34" charset="0"/>
                </a:rPr>
                <a:t>Video Content Anomaly Detection Model</a:t>
              </a:r>
              <a:endParaRPr lang="en-US" sz="800" dirty="0">
                <a:latin typeface="SamsungOne 600C" panose="020B0706030303020204" pitchFamily="34" charset="0"/>
                <a:ea typeface="SamsungOne 600C" panose="020B0706030303020204" pitchFamily="34" charset="0"/>
              </a:endParaRPr>
            </a:p>
          </p:txBody>
        </p:sp>
        <p:sp>
          <p:nvSpPr>
            <p:cNvPr id="76" name="TextBox 56">
              <a:extLst>
                <a:ext uri="{FF2B5EF4-FFF2-40B4-BE49-F238E27FC236}">
                  <a16:creationId xmlns:a16="http://schemas.microsoft.com/office/drawing/2014/main" id="{456E1BCF-E55A-4F22-92C6-11774EDC79B3}"/>
                </a:ext>
              </a:extLst>
            </p:cNvPr>
            <p:cNvSpPr txBox="1"/>
            <p:nvPr/>
          </p:nvSpPr>
          <p:spPr>
            <a:xfrm>
              <a:off x="11171421" y="1402717"/>
              <a:ext cx="788493" cy="342506"/>
            </a:xfrm>
            <a:prstGeom prst="rect">
              <a:avLst/>
            </a:prstGeom>
            <a:noFill/>
            <a:ln>
              <a:solidFill>
                <a:schemeClr val="accent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000" dirty="0"/>
                <a:t>Valid Video Story</a:t>
              </a:r>
            </a:p>
          </p:txBody>
        </p:sp>
        <p:sp>
          <p:nvSpPr>
            <p:cNvPr id="77" name="TextBox 57">
              <a:extLst>
                <a:ext uri="{FF2B5EF4-FFF2-40B4-BE49-F238E27FC236}">
                  <a16:creationId xmlns:a16="http://schemas.microsoft.com/office/drawing/2014/main" id="{53877F05-7A01-411D-BC75-DB336E56A61C}"/>
                </a:ext>
              </a:extLst>
            </p:cNvPr>
            <p:cNvSpPr txBox="1"/>
            <p:nvPr/>
          </p:nvSpPr>
          <p:spPr>
            <a:xfrm>
              <a:off x="11171422" y="1875857"/>
              <a:ext cx="852799" cy="342506"/>
            </a:xfrm>
            <a:prstGeom prst="rect">
              <a:avLst/>
            </a:prstGeom>
            <a:noFill/>
            <a:ln>
              <a:solidFill>
                <a:schemeClr val="accent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1000" dirty="0"/>
                <a:t>Invalid Video Story</a:t>
              </a:r>
            </a:p>
          </p:txBody>
        </p:sp>
        <p:cxnSp>
          <p:nvCxnSpPr>
            <p:cNvPr id="78" name="Straight Arrow Connector 77">
              <a:extLst>
                <a:ext uri="{FF2B5EF4-FFF2-40B4-BE49-F238E27FC236}">
                  <a16:creationId xmlns:a16="http://schemas.microsoft.com/office/drawing/2014/main" id="{C961F63C-1C9E-48D1-8190-2C35351CDBA7}"/>
                </a:ext>
              </a:extLst>
            </p:cNvPr>
            <p:cNvCxnSpPr/>
            <p:nvPr/>
          </p:nvCxnSpPr>
          <p:spPr>
            <a:xfrm>
              <a:off x="8263083" y="1819513"/>
              <a:ext cx="1946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5485CD21-8528-4BF7-B9F4-8818CCF17A86}"/>
                </a:ext>
              </a:extLst>
            </p:cNvPr>
            <p:cNvCxnSpPr>
              <a:cxnSpLocks/>
            </p:cNvCxnSpPr>
            <p:nvPr/>
          </p:nvCxnSpPr>
          <p:spPr>
            <a:xfrm>
              <a:off x="10737581" y="1482937"/>
              <a:ext cx="379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65538FC-3054-40AD-B91E-68021C2F9805}"/>
                </a:ext>
              </a:extLst>
            </p:cNvPr>
            <p:cNvCxnSpPr>
              <a:cxnSpLocks/>
            </p:cNvCxnSpPr>
            <p:nvPr/>
          </p:nvCxnSpPr>
          <p:spPr>
            <a:xfrm>
              <a:off x="10737581" y="1949218"/>
              <a:ext cx="379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9" name="TextBox 61">
            <a:extLst>
              <a:ext uri="{FF2B5EF4-FFF2-40B4-BE49-F238E27FC236}">
                <a16:creationId xmlns:a16="http://schemas.microsoft.com/office/drawing/2014/main" id="{3E1073E6-1E83-48C2-85F9-A35215CDA61C}"/>
              </a:ext>
            </a:extLst>
          </p:cNvPr>
          <p:cNvSpPr txBox="1"/>
          <p:nvPr/>
        </p:nvSpPr>
        <p:spPr>
          <a:xfrm>
            <a:off x="3223645" y="5014723"/>
            <a:ext cx="1569514" cy="61555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Aravind Nadanasabapathy</a:t>
            </a:r>
            <a:r>
              <a:rPr kumimoji="0" lang="en-IN" sz="9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(Staff Engineering Manager)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hlinkClick r:id="rId7"/>
              </a:rPr>
              <a:t>aravind.n@samsung.com</a:t>
            </a:r>
            <a:endPar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+919986341498</a:t>
            </a:r>
            <a:endParaRPr kumimoji="0" lang="en-US" sz="12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p:txBody>
      </p:sp>
      <p:pic>
        <p:nvPicPr>
          <p:cNvPr id="60" name="Picture 59">
            <a:extLst>
              <a:ext uri="{FF2B5EF4-FFF2-40B4-BE49-F238E27FC236}">
                <a16:creationId xmlns:a16="http://schemas.microsoft.com/office/drawing/2014/main" id="{C87466C2-5E64-43B7-9571-74150B06395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89523" y="3899334"/>
            <a:ext cx="935984" cy="1076971"/>
          </a:xfrm>
          <a:prstGeom prst="rect">
            <a:avLst/>
          </a:prstGeom>
          <a:ln>
            <a:noFill/>
          </a:ln>
          <a:effectLst>
            <a:outerShdw blurRad="292100" dist="139700" dir="2700000" algn="tl" rotWithShape="0">
              <a:srgbClr val="333333">
                <a:alpha val="65000"/>
              </a:srgbClr>
            </a:outerShdw>
          </a:effectLst>
        </p:spPr>
      </p:pic>
      <p:pic>
        <p:nvPicPr>
          <p:cNvPr id="61" name="Picture 60">
            <a:extLst>
              <a:ext uri="{FF2B5EF4-FFF2-40B4-BE49-F238E27FC236}">
                <a16:creationId xmlns:a16="http://schemas.microsoft.com/office/drawing/2014/main" id="{143363FD-F89B-4720-805C-207B607460FC}"/>
              </a:ext>
            </a:extLst>
          </p:cNvPr>
          <p:cNvPicPr>
            <a:picLocks noChangeAspect="1"/>
          </p:cNvPicPr>
          <p:nvPr/>
        </p:nvPicPr>
        <p:blipFill>
          <a:blip r:embed="rId9"/>
          <a:stretch>
            <a:fillRect/>
          </a:stretch>
        </p:blipFill>
        <p:spPr>
          <a:xfrm>
            <a:off x="477904" y="3899334"/>
            <a:ext cx="935985" cy="1061458"/>
          </a:xfrm>
          <a:prstGeom prst="rect">
            <a:avLst/>
          </a:prstGeom>
        </p:spPr>
      </p:pic>
      <p:sp>
        <p:nvSpPr>
          <p:cNvPr id="62" name="TextBox 63">
            <a:extLst>
              <a:ext uri="{FF2B5EF4-FFF2-40B4-BE49-F238E27FC236}">
                <a16:creationId xmlns:a16="http://schemas.microsoft.com/office/drawing/2014/main" id="{CBAC3238-2CBC-47F5-9704-E2474B62F554}"/>
              </a:ext>
            </a:extLst>
          </p:cNvPr>
          <p:cNvSpPr txBox="1"/>
          <p:nvPr/>
        </p:nvSpPr>
        <p:spPr>
          <a:xfrm>
            <a:off x="123445" y="4994370"/>
            <a:ext cx="1569514" cy="61555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Asha 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(Staff Engineering Manager)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hlinkClick r:id="rId10"/>
              </a:rPr>
              <a:t>Asha.nprasad@samsung.com</a:t>
            </a:r>
            <a:endPar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+919972097426</a:t>
            </a:r>
            <a:endParaRPr kumimoji="0" lang="en-US" sz="12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p:txBody>
      </p:sp>
      <p:pic>
        <p:nvPicPr>
          <p:cNvPr id="63" name="Picture 62">
            <a:extLst>
              <a:ext uri="{FF2B5EF4-FFF2-40B4-BE49-F238E27FC236}">
                <a16:creationId xmlns:a16="http://schemas.microsoft.com/office/drawing/2014/main" id="{1830D06C-A322-4CC4-88FD-00FF3D5DB7CF}"/>
              </a:ext>
            </a:extLst>
          </p:cNvPr>
          <p:cNvPicPr>
            <a:picLocks noChangeAspect="1"/>
          </p:cNvPicPr>
          <p:nvPr/>
        </p:nvPicPr>
        <p:blipFill>
          <a:blip r:embed="rId11"/>
          <a:stretch>
            <a:fillRect/>
          </a:stretch>
        </p:blipFill>
        <p:spPr>
          <a:xfrm>
            <a:off x="1989515" y="3899334"/>
            <a:ext cx="940307" cy="1059423"/>
          </a:xfrm>
          <a:prstGeom prst="rect">
            <a:avLst/>
          </a:prstGeom>
        </p:spPr>
      </p:pic>
      <p:sp>
        <p:nvSpPr>
          <p:cNvPr id="64" name="TextBox 64">
            <a:extLst>
              <a:ext uri="{FF2B5EF4-FFF2-40B4-BE49-F238E27FC236}">
                <a16:creationId xmlns:a16="http://schemas.microsoft.com/office/drawing/2014/main" id="{2520B862-D0A4-432C-897A-438762F893EE}"/>
              </a:ext>
            </a:extLst>
          </p:cNvPr>
          <p:cNvSpPr txBox="1"/>
          <p:nvPr/>
        </p:nvSpPr>
        <p:spPr>
          <a:xfrm>
            <a:off x="1616228" y="4994370"/>
            <a:ext cx="1715264" cy="61555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err="1">
                <a:ln>
                  <a:noFill/>
                </a:ln>
                <a:solidFill>
                  <a:prstClr val="white"/>
                </a:solidFill>
                <a:effectLst/>
                <a:uLnTx/>
                <a:uFillTx/>
                <a:latin typeface="SamsungOne 600C" panose="020B0706030303020204" pitchFamily="34" charset="0"/>
                <a:ea typeface="SamsungOne 600C" panose="020B0706030303020204" pitchFamily="34" charset="0"/>
                <a:cs typeface="+mn-cs"/>
              </a:rPr>
              <a:t>Sasanka</a:t>
            </a: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 </a:t>
            </a:r>
            <a:r>
              <a:rPr kumimoji="0" lang="en-IN" sz="900" b="0" i="0" u="none" strike="noStrike" kern="1200" cap="none" spc="0" normalizeH="0" baseline="0" noProof="0" dirty="0" err="1">
                <a:ln>
                  <a:noFill/>
                </a:ln>
                <a:solidFill>
                  <a:prstClr val="white"/>
                </a:solidFill>
                <a:effectLst/>
                <a:uLnTx/>
                <a:uFillTx/>
                <a:latin typeface="SamsungOne 600C" panose="020B0706030303020204" pitchFamily="34" charset="0"/>
                <a:ea typeface="SamsungOne 600C" panose="020B0706030303020204" pitchFamily="34" charset="0"/>
                <a:cs typeface="+mn-cs"/>
              </a:rPr>
              <a:t>Pentapalli</a:t>
            </a:r>
            <a:endPar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hlinkClick r:id="rId12"/>
              </a:rPr>
              <a:t>s.pentapalli@partner.samsung.com</a:t>
            </a: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rPr>
              <a:t>+918790761764</a:t>
            </a:r>
            <a:endParaRPr kumimoji="0" lang="en-US" sz="1200" b="0" i="0" u="none" strike="noStrike" kern="1200" cap="none" spc="0" normalizeH="0" baseline="0" noProof="0" dirty="0">
              <a:ln>
                <a:noFill/>
              </a:ln>
              <a:solidFill>
                <a:prstClr val="white"/>
              </a:solidFill>
              <a:effectLst/>
              <a:uLnTx/>
              <a:uFillTx/>
              <a:latin typeface="SamsungOne 600C" panose="020B0706030303020204" pitchFamily="34" charset="0"/>
              <a:ea typeface="SamsungOne 600C" panose="020B0706030303020204" pitchFamily="34" charset="0"/>
              <a:cs typeface="+mn-cs"/>
            </a:endParaRPr>
          </a:p>
        </p:txBody>
      </p:sp>
    </p:spTree>
    <p:extLst>
      <p:ext uri="{BB962C8B-B14F-4D97-AF65-F5344CB8AC3E}">
        <p14:creationId xmlns:p14="http://schemas.microsoft.com/office/powerpoint/2010/main" val="38415036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US" sz="3200" b="1" dirty="0" smtClean="0">
                <a:effectLst>
                  <a:outerShdw blurRad="38100" dist="38100" dir="2700000" algn="tl">
                    <a:srgbClr val="000000">
                      <a:alpha val="43137"/>
                    </a:srgbClr>
                  </a:outerShdw>
                </a:effectLst>
                <a:latin typeface="SamsungOne 200" panose="020B0203030303020204" pitchFamily="34" charset="0"/>
                <a:ea typeface="SamsungOne 200" panose="020B0203030303020204" pitchFamily="34" charset="0"/>
              </a:rPr>
              <a:t>Literature survey and study</a:t>
            </a:r>
            <a:endParaRPr lang="en-IN" sz="3200" b="1" dirty="0">
              <a:latin typeface="SamsungOne 200" panose="020B0203030303020204" pitchFamily="34" charset="0"/>
              <a:ea typeface="SamsungOne 200" panose="020B02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7" name="TextBox 6"/>
          <p:cNvSpPr txBox="1"/>
          <p:nvPr/>
        </p:nvSpPr>
        <p:spPr>
          <a:xfrm>
            <a:off x="0" y="672845"/>
            <a:ext cx="12191999" cy="769441"/>
          </a:xfrm>
          <a:prstGeom prst="rect">
            <a:avLst/>
          </a:prstGeom>
          <a:solidFill>
            <a:schemeClr val="bg1">
              <a:lumMod val="95000"/>
            </a:schemeClr>
          </a:solidFill>
          <a:effectLst>
            <a:outerShdw blurRad="50800" dist="38100" dir="5400000" algn="t" rotWithShape="0">
              <a:prstClr val="black">
                <a:alpha val="40000"/>
              </a:prstClr>
            </a:outerShdw>
          </a:effectLst>
        </p:spPr>
        <p:txBody>
          <a:bodyPr wrap="square" rtlCol="0">
            <a:spAutoFit/>
          </a:bodyPr>
          <a:lstStyle/>
          <a:p>
            <a:pPr marL="285750" indent="-285750" algn="just">
              <a:buFont typeface="Arial" panose="020B0604020202020204" pitchFamily="34" charset="0"/>
              <a:buChar char="•"/>
            </a:pPr>
            <a:r>
              <a:rPr lang="en-US" sz="1600" b="1" u="sng" dirty="0">
                <a:solidFill>
                  <a:srgbClr val="0E4094"/>
                </a:solidFill>
              </a:rPr>
              <a:t>Major </a:t>
            </a:r>
            <a:r>
              <a:rPr lang="en-US" sz="1600" b="1" u="sng" dirty="0" smtClean="0">
                <a:solidFill>
                  <a:srgbClr val="0E4094"/>
                </a:solidFill>
              </a:rPr>
              <a:t>Observations </a:t>
            </a:r>
            <a:r>
              <a:rPr lang="en-US" sz="1600" b="1" u="sng" dirty="0">
                <a:solidFill>
                  <a:srgbClr val="0E4094"/>
                </a:solidFill>
              </a:rPr>
              <a:t>/ </a:t>
            </a:r>
            <a:r>
              <a:rPr lang="en-US" sz="1600" b="1" u="sng" dirty="0" smtClean="0">
                <a:solidFill>
                  <a:srgbClr val="0E4094"/>
                </a:solidFill>
              </a:rPr>
              <a:t>Conclusions: </a:t>
            </a:r>
            <a:endParaRPr lang="en-US" sz="1600" b="1" u="sng" dirty="0">
              <a:solidFill>
                <a:srgbClr val="0E4094"/>
              </a:solidFill>
            </a:endParaRPr>
          </a:p>
          <a:p>
            <a:pPr algn="just"/>
            <a:r>
              <a:rPr lang="en-US" sz="1200" dirty="0">
                <a:solidFill>
                  <a:srgbClr val="0E4094"/>
                </a:solidFill>
              </a:rPr>
              <a:t>      </a:t>
            </a:r>
            <a:r>
              <a:rPr lang="en-US" sz="1200" dirty="0" smtClean="0">
                <a:solidFill>
                  <a:srgbClr val="0E4094"/>
                </a:solidFill>
              </a:rPr>
              <a:t>(provide </a:t>
            </a:r>
            <a:r>
              <a:rPr lang="en-US" sz="1200" dirty="0">
                <a:solidFill>
                  <a:srgbClr val="0E4094"/>
                </a:solidFill>
              </a:rPr>
              <a:t>details about your findings, </a:t>
            </a:r>
            <a:r>
              <a:rPr lang="en-US" sz="1200" dirty="0" smtClean="0">
                <a:solidFill>
                  <a:srgbClr val="0E4094"/>
                </a:solidFill>
              </a:rPr>
              <a:t>experimental </a:t>
            </a:r>
            <a:r>
              <a:rPr lang="en-US" sz="1200" dirty="0">
                <a:solidFill>
                  <a:srgbClr val="0E4094"/>
                </a:solidFill>
              </a:rPr>
              <a:t>opinion – Use separate slide if </a:t>
            </a:r>
            <a:r>
              <a:rPr lang="en-US" sz="1200" dirty="0" smtClean="0">
                <a:solidFill>
                  <a:srgbClr val="0E4094"/>
                </a:solidFill>
              </a:rPr>
              <a:t>necessary)</a:t>
            </a:r>
            <a:endParaRPr lang="en-US" sz="1600" dirty="0" smtClean="0"/>
          </a:p>
          <a:p>
            <a:pPr algn="just"/>
            <a:endParaRPr lang="en-US" sz="1600" dirty="0" smtClean="0"/>
          </a:p>
        </p:txBody>
      </p:sp>
      <p:sp>
        <p:nvSpPr>
          <p:cNvPr id="2" name="TextBox 1"/>
          <p:cNvSpPr txBox="1"/>
          <p:nvPr/>
        </p:nvSpPr>
        <p:spPr>
          <a:xfrm>
            <a:off x="381898" y="2133600"/>
            <a:ext cx="11098902" cy="369332"/>
          </a:xfrm>
          <a:prstGeom prst="rect">
            <a:avLst/>
          </a:prstGeom>
          <a:noFill/>
        </p:spPr>
        <p:txBody>
          <a:bodyPr wrap="square" rtlCol="0">
            <a:spAutoFit/>
          </a:bodyPr>
          <a:lstStyle/>
          <a:p>
            <a:endParaRPr lang="en-IN" dirty="0"/>
          </a:p>
        </p:txBody>
      </p:sp>
      <p:sp>
        <p:nvSpPr>
          <p:cNvPr id="8" name="Rectangle 5"/>
          <p:cNvSpPr>
            <a:spLocks noChangeArrowheads="1"/>
          </p:cNvSpPr>
          <p:nvPr/>
        </p:nvSpPr>
        <p:spPr bwMode="auto">
          <a:xfrm>
            <a:off x="169333" y="1442286"/>
            <a:ext cx="1159933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Inefficiency of Single-Model Approaches: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Our survey indicates that traditional End-to-End Video Transformers (like </a:t>
            </a:r>
            <a:r>
              <a:rPr kumimoji="0" lang="en-US" altLang="en-US" sz="1800" b="0" i="0" u="none" strike="noStrike" cap="none" normalizeH="0" baseline="0" dirty="0" err="1" smtClean="0">
                <a:ln>
                  <a:noFill/>
                </a:ln>
                <a:solidFill>
                  <a:schemeClr val="tx1"/>
                </a:solidFill>
                <a:effectLst/>
                <a:latin typeface="Arial" panose="020B0604020202020204" pitchFamily="34" charset="0"/>
              </a:rPr>
              <a:t>VideoBERT</a:t>
            </a:r>
            <a:r>
              <a:rPr kumimoji="0" lang="en-US" altLang="en-US" sz="1800" b="0" i="0" u="none" strike="noStrike" cap="none" normalizeH="0" baseline="0" dirty="0" smtClean="0">
                <a:ln>
                  <a:noFill/>
                </a:ln>
                <a:solidFill>
                  <a:schemeClr val="tx1"/>
                </a:solidFill>
                <a:effectLst/>
                <a:latin typeface="Arial" panose="020B0604020202020204" pitchFamily="34" charset="0"/>
              </a:rPr>
              <a:t>) are computationally too heavy for edge devices (mobile phones) and struggle to detect small, static objects like </a:t>
            </a:r>
            <a:r>
              <a:rPr kumimoji="0" lang="en-US" altLang="en-US" sz="1800" b="1" i="0" u="none" strike="noStrike" cap="none" normalizeH="0" baseline="0" dirty="0" smtClean="0">
                <a:ln>
                  <a:noFill/>
                </a:ln>
                <a:solidFill>
                  <a:schemeClr val="tx1"/>
                </a:solidFill>
                <a:effectLst/>
                <a:latin typeface="Arial" panose="020B0604020202020204" pitchFamily="34" charset="0"/>
              </a:rPr>
              <a:t>Brand Logos</a:t>
            </a:r>
            <a:r>
              <a:rPr kumimoji="0" lang="en-US" altLang="en-US" sz="1800" b="0" i="0" u="none" strike="noStrike" cap="none" normalizeH="0" baseline="0" dirty="0" smtClean="0">
                <a:ln>
                  <a:noFill/>
                </a:ln>
                <a:solidFill>
                  <a:schemeClr val="tx1"/>
                </a:solidFill>
                <a:effectLst/>
                <a:latin typeface="Arial" panose="020B0604020202020204" pitchFamily="34" charset="0"/>
              </a:rPr>
              <a:t> or </a:t>
            </a:r>
            <a:r>
              <a:rPr kumimoji="0" lang="en-US" altLang="en-US" sz="1800" b="1" i="0" u="none" strike="noStrike" cap="none" normalizeH="0" baseline="0" dirty="0" smtClean="0">
                <a:ln>
                  <a:noFill/>
                </a:ln>
                <a:solidFill>
                  <a:schemeClr val="tx1"/>
                </a:solidFill>
                <a:effectLst/>
                <a:latin typeface="Arial" panose="020B0604020202020204" pitchFamily="34" charset="0"/>
              </a:rPr>
              <a:t>Cigarettes</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The Decoupled Advantage: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We observed that treating Video and Audio as separate streams (Decoupling) yields higher accuracy for this specific problem statement.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smtClean="0">
                <a:ln>
                  <a:noFill/>
                </a:ln>
                <a:solidFill>
                  <a:schemeClr val="tx1"/>
                </a:solidFill>
                <a:effectLst/>
                <a:latin typeface="Arial" panose="020B0604020202020204" pitchFamily="34" charset="0"/>
              </a:rPr>
              <a:t>Observation:</a:t>
            </a:r>
            <a:r>
              <a:rPr kumimoji="0" lang="en-US" altLang="en-US" sz="1800" b="0" i="0" u="none" strike="noStrike" cap="none" normalizeH="0" baseline="0" dirty="0" smtClean="0">
                <a:ln>
                  <a:noFill/>
                </a:ln>
                <a:solidFill>
                  <a:schemeClr val="tx1"/>
                </a:solidFill>
                <a:effectLst/>
                <a:latin typeface="Arial" panose="020B0604020202020204" pitchFamily="34" charset="0"/>
              </a:rPr>
              <a:t> Audio models (Whisper) detect hate speech 40% more accurately than visual cues alone (e.g., reading lips or aggressive gestures).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Feasibility of Real-Time Edge AI:</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YOLOv8 Nano</a:t>
            </a:r>
            <a:r>
              <a:rPr kumimoji="0" lang="en-US" altLang="en-US" sz="1800" b="0" i="0" u="none" strike="noStrike" cap="none" normalizeH="0" baseline="0" dirty="0" smtClean="0">
                <a:ln>
                  <a:noFill/>
                </a:ln>
                <a:solidFill>
                  <a:schemeClr val="tx1"/>
                </a:solidFill>
                <a:effectLst/>
                <a:latin typeface="Arial" panose="020B0604020202020204" pitchFamily="34" charset="0"/>
              </a:rPr>
              <a:t> was identified as the optimal vision model. It operates at high FPS (Frames Per Second) on standard CPUs, proving that the project can run on a Samsung device without heavy cloud dependency.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Compliance vs. Safety: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We concluded that Safety (Violence) and Brand Compliance (Competitor Logos) require different detection logic. A single Safety Classifier fails to catch Competitor Logos, necessitating our specialized </a:t>
            </a:r>
            <a:r>
              <a:rPr kumimoji="0" lang="en-US" altLang="en-US" sz="1800" b="1" i="0" u="none" strike="noStrike" cap="none" normalizeH="0" baseline="0" dirty="0" smtClean="0">
                <a:ln>
                  <a:noFill/>
                </a:ln>
                <a:solidFill>
                  <a:schemeClr val="tx1"/>
                </a:solidFill>
                <a:effectLst/>
                <a:latin typeface="Arial" panose="020B0604020202020204" pitchFamily="34" charset="0"/>
              </a:rPr>
              <a:t>Object Detection</a:t>
            </a:r>
            <a:r>
              <a:rPr kumimoji="0" lang="en-US" altLang="en-US" sz="1800" b="0" i="0" u="none" strike="noStrike" cap="none" normalizeH="0" baseline="0" dirty="0" smtClean="0">
                <a:ln>
                  <a:noFill/>
                </a:ln>
                <a:solidFill>
                  <a:schemeClr val="tx1"/>
                </a:solidFill>
                <a:effectLst/>
                <a:latin typeface="Arial" panose="020B0604020202020204" pitchFamily="34" charset="0"/>
              </a:rPr>
              <a:t>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67122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US" sz="3200" b="1" dirty="0" smtClean="0">
                <a:effectLst>
                  <a:outerShdw blurRad="38100" dist="38100" dir="2700000" algn="tl">
                    <a:srgbClr val="000000">
                      <a:alpha val="43137"/>
                    </a:srgbClr>
                  </a:outerShdw>
                </a:effectLst>
                <a:latin typeface="SamsungOne 200" panose="020B0203030303020204" pitchFamily="34" charset="0"/>
                <a:ea typeface="SamsungOne 200" panose="020B0203030303020204" pitchFamily="34" charset="0"/>
              </a:rPr>
              <a:t>Identified Resource Requirements</a:t>
            </a:r>
            <a:endParaRPr lang="en-IN" sz="3200" b="1" dirty="0">
              <a:latin typeface="SamsungOne 200" panose="020B0203030303020204" pitchFamily="34" charset="0"/>
              <a:ea typeface="SamsungOne 200" panose="020B02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7" name="TextBox 6"/>
          <p:cNvSpPr txBox="1"/>
          <p:nvPr/>
        </p:nvSpPr>
        <p:spPr>
          <a:xfrm>
            <a:off x="0" y="884404"/>
            <a:ext cx="12191999" cy="830997"/>
          </a:xfrm>
          <a:prstGeom prst="rect">
            <a:avLst/>
          </a:prstGeom>
          <a:solidFill>
            <a:schemeClr val="bg1">
              <a:lumMod val="95000"/>
            </a:schemeClr>
          </a:solidFill>
          <a:effectLst>
            <a:outerShdw blurRad="50800" dist="38100" dir="5400000" algn="t" rotWithShape="0">
              <a:prstClr val="black">
                <a:alpha val="40000"/>
              </a:prstClr>
            </a:outerShdw>
          </a:effectLst>
        </p:spPr>
        <p:txBody>
          <a:bodyPr wrap="square" rtlCol="0">
            <a:spAutoFit/>
          </a:bodyPr>
          <a:lstStyle/>
          <a:p>
            <a:pPr marL="285750" indent="-285750" algn="just">
              <a:buFont typeface="Arial" panose="020B0604020202020204" pitchFamily="34" charset="0"/>
              <a:buChar char="•"/>
            </a:pPr>
            <a:r>
              <a:rPr lang="en-US" sz="1600" b="1" u="sng" dirty="0" smtClean="0">
                <a:solidFill>
                  <a:srgbClr val="0E4094"/>
                </a:solidFill>
              </a:rPr>
              <a:t>Mention any GPU/Device </a:t>
            </a:r>
            <a:r>
              <a:rPr lang="en-US" sz="1600" b="1" u="sng" dirty="0" err="1" smtClean="0">
                <a:solidFill>
                  <a:srgbClr val="0E4094"/>
                </a:solidFill>
              </a:rPr>
              <a:t>etc</a:t>
            </a:r>
            <a:r>
              <a:rPr lang="en-US" sz="1600" b="1" u="sng" dirty="0" smtClean="0">
                <a:solidFill>
                  <a:srgbClr val="0E4094"/>
                </a:solidFill>
              </a:rPr>
              <a:t> requirement here clearly.</a:t>
            </a:r>
          </a:p>
          <a:p>
            <a:pPr marL="285750" indent="-285750" algn="just">
              <a:buFont typeface="Arial" panose="020B0604020202020204" pitchFamily="34" charset="0"/>
              <a:buChar char="•"/>
            </a:pPr>
            <a:r>
              <a:rPr lang="en-US" sz="1600" b="1" u="sng" dirty="0" smtClean="0">
                <a:solidFill>
                  <a:srgbClr val="0E4094"/>
                </a:solidFill>
              </a:rPr>
              <a:t>Also mention which of these can be fulfilled at college level (Lab </a:t>
            </a:r>
            <a:r>
              <a:rPr lang="en-US" sz="1600" b="1" u="sng" dirty="0" err="1" smtClean="0">
                <a:solidFill>
                  <a:srgbClr val="0E4094"/>
                </a:solidFill>
              </a:rPr>
              <a:t>etc</a:t>
            </a:r>
            <a:r>
              <a:rPr lang="en-US" sz="1600" b="1" u="sng" dirty="0" smtClean="0">
                <a:solidFill>
                  <a:srgbClr val="0E4094"/>
                </a:solidFill>
              </a:rPr>
              <a:t>).</a:t>
            </a:r>
            <a:endParaRPr lang="en-US" sz="1600" dirty="0" smtClean="0"/>
          </a:p>
          <a:p>
            <a:pPr algn="just"/>
            <a:endParaRPr lang="en-US" sz="1600" dirty="0" smtClean="0"/>
          </a:p>
        </p:txBody>
      </p:sp>
      <p:sp>
        <p:nvSpPr>
          <p:cNvPr id="2" name="Rectangle 1"/>
          <p:cNvSpPr/>
          <p:nvPr/>
        </p:nvSpPr>
        <p:spPr>
          <a:xfrm>
            <a:off x="1" y="1933814"/>
            <a:ext cx="12191998" cy="2031325"/>
          </a:xfrm>
          <a:prstGeom prst="rect">
            <a:avLst/>
          </a:prstGeom>
        </p:spPr>
        <p:txBody>
          <a:bodyPr wrap="square">
            <a:spAutoFit/>
          </a:bodyPr>
          <a:lstStyle/>
          <a:p>
            <a:r>
              <a:rPr lang="en-IN" b="1" dirty="0"/>
              <a:t>GPU / Device Requirements</a:t>
            </a:r>
            <a:endParaRPr lang="en-IN" dirty="0"/>
          </a:p>
          <a:p>
            <a:pPr>
              <a:buFont typeface="Arial" panose="020B0604020202020204" pitchFamily="34" charset="0"/>
              <a:buChar char="•"/>
            </a:pPr>
            <a:r>
              <a:rPr lang="en-IN" b="1" dirty="0"/>
              <a:t>For Training (Development Phase):</a:t>
            </a:r>
            <a:endParaRPr lang="en-IN" dirty="0"/>
          </a:p>
          <a:p>
            <a:pPr marL="742950" lvl="1" indent="-285750">
              <a:buFont typeface="Arial" panose="020B0604020202020204" pitchFamily="34" charset="0"/>
              <a:buChar char="•"/>
            </a:pPr>
            <a:r>
              <a:rPr lang="en-IN" b="1" dirty="0"/>
              <a:t>GPU:</a:t>
            </a:r>
            <a:r>
              <a:rPr lang="en-IN" dirty="0"/>
              <a:t> NVIDIA T4 or P100 (16GB VRAM). Required for training the YOLOv8 model and fine-tuning the </a:t>
            </a:r>
            <a:r>
              <a:rPr lang="en-IN" dirty="0" err="1"/>
              <a:t>DistilBERT</a:t>
            </a:r>
            <a:r>
              <a:rPr lang="en-IN" dirty="0"/>
              <a:t> model.</a:t>
            </a:r>
          </a:p>
          <a:p>
            <a:pPr marL="742950" lvl="1" indent="-285750">
              <a:buFont typeface="Arial" panose="020B0604020202020204" pitchFamily="34" charset="0"/>
              <a:buChar char="•"/>
            </a:pPr>
            <a:r>
              <a:rPr lang="en-IN" b="1" dirty="0"/>
              <a:t>Storage:</a:t>
            </a:r>
            <a:r>
              <a:rPr lang="en-IN" dirty="0"/>
              <a:t> ~15 GB SSD space for the composite dataset (Video + Audio + Logs).</a:t>
            </a:r>
          </a:p>
          <a:p>
            <a:pPr>
              <a:buFont typeface="Arial" panose="020B0604020202020204" pitchFamily="34" charset="0"/>
              <a:buChar char="•"/>
            </a:pPr>
            <a:r>
              <a:rPr lang="en-IN" b="1" dirty="0"/>
              <a:t>For Inference (Demo/Deployment Phase):</a:t>
            </a:r>
            <a:endParaRPr lang="en-IN" dirty="0"/>
          </a:p>
          <a:p>
            <a:pPr marL="742950" lvl="1" indent="-285750">
              <a:buFont typeface="Arial" panose="020B0604020202020204" pitchFamily="34" charset="0"/>
              <a:buChar char="•"/>
            </a:pPr>
            <a:r>
              <a:rPr lang="en-IN" b="1" dirty="0"/>
              <a:t>Device:</a:t>
            </a:r>
            <a:r>
              <a:rPr lang="en-IN" dirty="0"/>
              <a:t> Standard Laptop (Intel i5/i7, 8GB RAM) or Mobile Device (Snapdragon 8 Gen 1 equivalent).</a:t>
            </a:r>
          </a:p>
          <a:p>
            <a:pPr marL="742950" lvl="1" indent="-285750">
              <a:buFont typeface="Arial" panose="020B0604020202020204" pitchFamily="34" charset="0"/>
              <a:buChar char="•"/>
            </a:pPr>
            <a:r>
              <a:rPr lang="en-IN" b="1" dirty="0"/>
              <a:t>GPU:</a:t>
            </a:r>
            <a:r>
              <a:rPr lang="en-IN" dirty="0"/>
              <a:t> Not strictly required for inference; </a:t>
            </a:r>
            <a:r>
              <a:rPr lang="en-IN" dirty="0" smtClean="0"/>
              <a:t>the Nano </a:t>
            </a:r>
            <a:r>
              <a:rPr lang="en-IN" dirty="0"/>
              <a:t>and </a:t>
            </a:r>
            <a:r>
              <a:rPr lang="en-IN" dirty="0" smtClean="0"/>
              <a:t>Base </a:t>
            </a:r>
            <a:r>
              <a:rPr lang="en-IN" dirty="0"/>
              <a:t>models are optimized to run on CPU if needed.</a:t>
            </a:r>
          </a:p>
        </p:txBody>
      </p:sp>
      <p:sp>
        <p:nvSpPr>
          <p:cNvPr id="3" name="Rectangle 2"/>
          <p:cNvSpPr/>
          <p:nvPr/>
        </p:nvSpPr>
        <p:spPr>
          <a:xfrm>
            <a:off x="0" y="4183552"/>
            <a:ext cx="12191999" cy="2031325"/>
          </a:xfrm>
          <a:prstGeom prst="rect">
            <a:avLst/>
          </a:prstGeom>
        </p:spPr>
        <p:txBody>
          <a:bodyPr wrap="square">
            <a:spAutoFit/>
          </a:bodyPr>
          <a:lstStyle/>
          <a:p>
            <a:r>
              <a:rPr lang="en-GB" b="1" dirty="0" err="1"/>
              <a:t>Fulfillment</a:t>
            </a:r>
            <a:r>
              <a:rPr lang="en-GB" b="1" dirty="0"/>
              <a:t> at College Level (Lab)</a:t>
            </a:r>
            <a:endParaRPr lang="en-GB" dirty="0"/>
          </a:p>
          <a:p>
            <a:pPr>
              <a:buFont typeface="Arial" panose="020B0604020202020204" pitchFamily="34" charset="0"/>
              <a:buChar char="•"/>
            </a:pPr>
            <a:r>
              <a:rPr lang="en-GB" b="1" dirty="0"/>
              <a:t>Training Resources:</a:t>
            </a:r>
            <a:endParaRPr lang="en-GB" dirty="0"/>
          </a:p>
          <a:p>
            <a:pPr marL="742950" lvl="1" indent="-285750">
              <a:buFont typeface="Arial" panose="020B0604020202020204" pitchFamily="34" charset="0"/>
              <a:buChar char="•"/>
            </a:pPr>
            <a:r>
              <a:rPr lang="en-GB" dirty="0"/>
              <a:t>We will utilize </a:t>
            </a:r>
            <a:r>
              <a:rPr lang="en-GB" b="1" dirty="0"/>
              <a:t>Google </a:t>
            </a:r>
            <a:r>
              <a:rPr lang="en-GB" b="1" dirty="0" err="1"/>
              <a:t>Colab</a:t>
            </a:r>
            <a:r>
              <a:rPr lang="en-GB" b="1" dirty="0"/>
              <a:t> Pro</a:t>
            </a:r>
            <a:r>
              <a:rPr lang="en-GB" dirty="0"/>
              <a:t> or </a:t>
            </a:r>
            <a:r>
              <a:rPr lang="en-GB" b="1" dirty="0" err="1"/>
              <a:t>Kaggle</a:t>
            </a:r>
            <a:r>
              <a:rPr lang="en-GB" b="1" dirty="0"/>
              <a:t> Kernels</a:t>
            </a:r>
            <a:r>
              <a:rPr lang="en-GB" dirty="0"/>
              <a:t> (Cloud GPUs) for the heavy training phase, requiring no high-end </a:t>
            </a:r>
            <a:r>
              <a:rPr lang="en-GB" dirty="0" err="1"/>
              <a:t>on-premise</a:t>
            </a:r>
            <a:r>
              <a:rPr lang="en-GB" dirty="0"/>
              <a:t> hardware from the college.</a:t>
            </a:r>
          </a:p>
          <a:p>
            <a:pPr>
              <a:buFont typeface="Arial" panose="020B0604020202020204" pitchFamily="34" charset="0"/>
              <a:buChar char="•"/>
            </a:pPr>
            <a:r>
              <a:rPr lang="en-GB" b="1" dirty="0"/>
              <a:t>Demo Resources:</a:t>
            </a:r>
            <a:endParaRPr lang="en-GB" dirty="0"/>
          </a:p>
          <a:p>
            <a:pPr marL="742950" lvl="1" indent="-285750">
              <a:buFont typeface="Arial" panose="020B0604020202020204" pitchFamily="34" charset="0"/>
              <a:buChar char="•"/>
            </a:pPr>
            <a:r>
              <a:rPr lang="en-GB" dirty="0"/>
              <a:t>Standard Computer Lab systems (Windows/Linux with Python 3.9) are sufficient to run the </a:t>
            </a:r>
            <a:r>
              <a:rPr lang="en-GB" b="1" dirty="0"/>
              <a:t>Flask API</a:t>
            </a:r>
            <a:r>
              <a:rPr lang="en-GB" dirty="0"/>
              <a:t> and </a:t>
            </a:r>
            <a:r>
              <a:rPr lang="en-GB" b="1" dirty="0" err="1"/>
              <a:t>Streamlit</a:t>
            </a:r>
            <a:r>
              <a:rPr lang="en-GB" b="1" dirty="0"/>
              <a:t> Dashboard</a:t>
            </a:r>
            <a:r>
              <a:rPr lang="en-GB" dirty="0"/>
              <a:t> for the final demonstration.</a:t>
            </a:r>
          </a:p>
        </p:txBody>
      </p:sp>
    </p:spTree>
    <p:extLst>
      <p:ext uri="{BB962C8B-B14F-4D97-AF65-F5344CB8AC3E}">
        <p14:creationId xmlns:p14="http://schemas.microsoft.com/office/powerpoint/2010/main" val="36179738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US" sz="3200" b="1" dirty="0" smtClean="0">
                <a:effectLst>
                  <a:outerShdw blurRad="38100" dist="38100" dir="2700000" algn="tl">
                    <a:srgbClr val="000000">
                      <a:alpha val="43137"/>
                    </a:srgbClr>
                  </a:outerShdw>
                </a:effectLst>
                <a:latin typeface="SamsungOne 200" panose="020B0203030303020204" pitchFamily="34" charset="0"/>
                <a:ea typeface="SamsungOne 200" panose="020B0203030303020204" pitchFamily="34" charset="0"/>
              </a:rPr>
              <a:t>Academic Calendar Breaks (If Any)</a:t>
            </a:r>
            <a:endParaRPr lang="en-IN" sz="3200" b="1" dirty="0">
              <a:latin typeface="SamsungOne 200" panose="020B0203030303020204" pitchFamily="34" charset="0"/>
              <a:ea typeface="SamsungOne 200" panose="020B02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7" name="TextBox 6"/>
          <p:cNvSpPr txBox="1"/>
          <p:nvPr/>
        </p:nvSpPr>
        <p:spPr>
          <a:xfrm>
            <a:off x="0" y="884404"/>
            <a:ext cx="12191999" cy="1077218"/>
          </a:xfrm>
          <a:prstGeom prst="rect">
            <a:avLst/>
          </a:prstGeom>
          <a:solidFill>
            <a:schemeClr val="bg1">
              <a:lumMod val="95000"/>
            </a:schemeClr>
          </a:solidFill>
          <a:effectLst>
            <a:outerShdw blurRad="50800" dist="38100" dir="5400000" algn="t" rotWithShape="0">
              <a:prstClr val="black">
                <a:alpha val="40000"/>
              </a:prstClr>
            </a:outerShdw>
          </a:effectLst>
        </p:spPr>
        <p:txBody>
          <a:bodyPr wrap="square" rtlCol="0">
            <a:spAutoFit/>
          </a:bodyPr>
          <a:lstStyle/>
          <a:p>
            <a:pPr marL="285750" indent="-285750" algn="just">
              <a:buFont typeface="Arial" panose="020B0604020202020204" pitchFamily="34" charset="0"/>
              <a:buChar char="•"/>
            </a:pPr>
            <a:r>
              <a:rPr lang="en-US" sz="1600" b="1" u="sng" dirty="0" smtClean="0">
                <a:solidFill>
                  <a:srgbClr val="0E4094"/>
                </a:solidFill>
              </a:rPr>
              <a:t>Mention any planned academic activity (Internals/Exams/Holidays/Events/Other Internships </a:t>
            </a:r>
            <a:r>
              <a:rPr lang="en-US" sz="1600" b="1" u="sng" dirty="0" err="1" smtClean="0">
                <a:solidFill>
                  <a:srgbClr val="0E4094"/>
                </a:solidFill>
              </a:rPr>
              <a:t>etc</a:t>
            </a:r>
            <a:r>
              <a:rPr lang="en-US" sz="1600" b="1" u="sng" dirty="0" smtClean="0">
                <a:solidFill>
                  <a:srgbClr val="0E4094"/>
                </a:solidFill>
              </a:rPr>
              <a:t>) in next 6 months which will impact project timeline.</a:t>
            </a:r>
          </a:p>
          <a:p>
            <a:pPr marL="285750" indent="-285750" algn="just">
              <a:buFont typeface="Arial" panose="020B0604020202020204" pitchFamily="34" charset="0"/>
              <a:buChar char="•"/>
            </a:pPr>
            <a:r>
              <a:rPr lang="en-US" sz="1600" b="1" u="sng" dirty="0" smtClean="0">
                <a:solidFill>
                  <a:srgbClr val="0E4094"/>
                </a:solidFill>
              </a:rPr>
              <a:t>This helps in setting up the expectation of delivery timeline.</a:t>
            </a:r>
            <a:endParaRPr lang="en-US" sz="1600" dirty="0" smtClean="0"/>
          </a:p>
          <a:p>
            <a:pPr algn="just"/>
            <a:endParaRPr lang="en-US" sz="1600" dirty="0" smtClean="0"/>
          </a:p>
        </p:txBody>
      </p:sp>
      <p:sp>
        <p:nvSpPr>
          <p:cNvPr id="2" name="TextBox 1"/>
          <p:cNvSpPr txBox="1"/>
          <p:nvPr/>
        </p:nvSpPr>
        <p:spPr>
          <a:xfrm>
            <a:off x="313266" y="2444817"/>
            <a:ext cx="11150422" cy="1477328"/>
          </a:xfrm>
          <a:prstGeom prst="rect">
            <a:avLst/>
          </a:prstGeom>
          <a:noFill/>
        </p:spPr>
        <p:txBody>
          <a:bodyPr wrap="square" rtlCol="0">
            <a:spAutoFit/>
          </a:bodyPr>
          <a:lstStyle/>
          <a:p>
            <a:r>
              <a:rPr lang="en-GB" dirty="0" smtClean="0"/>
              <a:t>12</a:t>
            </a:r>
            <a:r>
              <a:rPr lang="en-GB" baseline="30000" dirty="0" smtClean="0"/>
              <a:t>th</a:t>
            </a:r>
            <a:r>
              <a:rPr lang="en-GB" dirty="0" smtClean="0"/>
              <a:t> Jan – 14</a:t>
            </a:r>
            <a:r>
              <a:rPr lang="en-GB" baseline="30000" dirty="0" smtClean="0"/>
              <a:t>th</a:t>
            </a:r>
            <a:r>
              <a:rPr lang="en-GB" dirty="0" smtClean="0"/>
              <a:t> Jan : Internals</a:t>
            </a:r>
          </a:p>
          <a:p>
            <a:r>
              <a:rPr lang="en-GB" dirty="0" smtClean="0"/>
              <a:t>4</a:t>
            </a:r>
            <a:r>
              <a:rPr lang="en-GB" baseline="30000" dirty="0" smtClean="0"/>
              <a:t>th</a:t>
            </a:r>
            <a:r>
              <a:rPr lang="en-GB" dirty="0" smtClean="0"/>
              <a:t> Feb – 6</a:t>
            </a:r>
            <a:r>
              <a:rPr lang="en-GB" baseline="30000" dirty="0" smtClean="0"/>
              <a:t>th</a:t>
            </a:r>
            <a:r>
              <a:rPr lang="en-GB" dirty="0" smtClean="0"/>
              <a:t> Feb : Lab Semester End Exams</a:t>
            </a:r>
          </a:p>
          <a:p>
            <a:r>
              <a:rPr lang="en-GB" dirty="0" smtClean="0"/>
              <a:t>16</a:t>
            </a:r>
            <a:r>
              <a:rPr lang="en-GB" baseline="30000" dirty="0" smtClean="0"/>
              <a:t>th</a:t>
            </a:r>
            <a:r>
              <a:rPr lang="en-GB" dirty="0" smtClean="0"/>
              <a:t> Feb – 26</a:t>
            </a:r>
            <a:r>
              <a:rPr lang="en-GB" baseline="30000" dirty="0" smtClean="0"/>
              <a:t>th</a:t>
            </a:r>
            <a:r>
              <a:rPr lang="en-GB" dirty="0" smtClean="0"/>
              <a:t> Feb : Theory Semester End Exams</a:t>
            </a:r>
          </a:p>
          <a:p>
            <a:endParaRPr lang="en-GB" dirty="0"/>
          </a:p>
          <a:p>
            <a:r>
              <a:rPr lang="en-GB" dirty="0" smtClean="0"/>
              <a:t>27</a:t>
            </a:r>
            <a:r>
              <a:rPr lang="en-GB" baseline="30000" dirty="0" smtClean="0"/>
              <a:t>th</a:t>
            </a:r>
            <a:r>
              <a:rPr lang="en-GB" dirty="0" smtClean="0"/>
              <a:t> Feb – 19</a:t>
            </a:r>
            <a:r>
              <a:rPr lang="en-GB" baseline="30000" dirty="0" smtClean="0"/>
              <a:t>th</a:t>
            </a:r>
            <a:r>
              <a:rPr lang="en-GB" dirty="0" smtClean="0"/>
              <a:t> March : Semester End Holidays</a:t>
            </a:r>
            <a:endParaRPr lang="en-IN" dirty="0"/>
          </a:p>
        </p:txBody>
      </p:sp>
    </p:spTree>
    <p:extLst>
      <p:ext uri="{BB962C8B-B14F-4D97-AF65-F5344CB8AC3E}">
        <p14:creationId xmlns:p14="http://schemas.microsoft.com/office/powerpoint/2010/main" val="12178189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US" sz="3200" b="1" dirty="0" smtClean="0">
                <a:effectLst>
                  <a:outerShdw blurRad="38100" dist="38100" dir="2700000" algn="tl">
                    <a:srgbClr val="000000">
                      <a:alpha val="43137"/>
                    </a:srgbClr>
                  </a:outerShdw>
                </a:effectLst>
                <a:latin typeface="SamsungOne 200" panose="020B0203030303020204" pitchFamily="34" charset="0"/>
                <a:ea typeface="SamsungOne 200" panose="020B0203030303020204" pitchFamily="34" charset="0"/>
              </a:rPr>
              <a:t>Queries</a:t>
            </a:r>
            <a:endParaRPr lang="en-IN" sz="3200" b="1" dirty="0">
              <a:latin typeface="SamsungOne 200" panose="020B0203030303020204" pitchFamily="34" charset="0"/>
              <a:ea typeface="SamsungOne 200" panose="020B02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8" name="TextBox 7"/>
          <p:cNvSpPr txBox="1"/>
          <p:nvPr/>
        </p:nvSpPr>
        <p:spPr>
          <a:xfrm>
            <a:off x="1" y="806514"/>
            <a:ext cx="12191999" cy="523220"/>
          </a:xfrm>
          <a:prstGeom prst="rect">
            <a:avLst/>
          </a:prstGeom>
          <a:solidFill>
            <a:schemeClr val="bg1">
              <a:lumMod val="95000"/>
            </a:schemeClr>
          </a:solidFill>
          <a:effectLst>
            <a:outerShdw blurRad="50800" dist="38100" dir="5400000" algn="t" rotWithShape="0">
              <a:prstClr val="black">
                <a:alpha val="40000"/>
              </a:prstClr>
            </a:outerShdw>
          </a:effectLst>
        </p:spPr>
        <p:txBody>
          <a:bodyPr wrap="square" rtlCol="0">
            <a:spAutoFit/>
          </a:bodyPr>
          <a:lstStyle/>
          <a:p>
            <a:pPr marL="285750" indent="-285750" algn="just">
              <a:buFont typeface="Arial" panose="020B0604020202020204" pitchFamily="34" charset="0"/>
              <a:buChar char="•"/>
            </a:pPr>
            <a:r>
              <a:rPr lang="en-US" sz="1600" b="1" u="sng" dirty="0" smtClean="0">
                <a:solidFill>
                  <a:srgbClr val="0E4094"/>
                </a:solidFill>
              </a:rPr>
              <a:t>Challenges </a:t>
            </a:r>
            <a:r>
              <a:rPr lang="en-US" sz="1600" dirty="0" smtClean="0">
                <a:solidFill>
                  <a:srgbClr val="0E4094"/>
                </a:solidFill>
              </a:rPr>
              <a:t>: </a:t>
            </a:r>
          </a:p>
          <a:p>
            <a:pPr algn="just"/>
            <a:r>
              <a:rPr lang="en-US" sz="1200" dirty="0" smtClean="0">
                <a:solidFill>
                  <a:srgbClr val="0E4094"/>
                </a:solidFill>
              </a:rPr>
              <a:t>      (Discuss in the form of bullets, what are the next action steps, any road blocks / bottlenecks)</a:t>
            </a:r>
          </a:p>
        </p:txBody>
      </p:sp>
      <p:sp>
        <p:nvSpPr>
          <p:cNvPr id="2" name="Rectangle 1"/>
          <p:cNvSpPr>
            <a:spLocks noChangeArrowheads="1"/>
          </p:cNvSpPr>
          <p:nvPr/>
        </p:nvSpPr>
        <p:spPr bwMode="auto">
          <a:xfrm>
            <a:off x="1" y="1497551"/>
            <a:ext cx="121919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Roadblocks (External/Hard Constraints):</a:t>
            </a:r>
            <a:endParaRPr lang="en-IN" dirty="0"/>
          </a:p>
          <a:p>
            <a:r>
              <a:rPr lang="en-IN" b="1" dirty="0"/>
              <a:t>Data Scarcity for Niche Brands:</a:t>
            </a:r>
            <a:r>
              <a:rPr lang="en-IN" dirty="0"/>
              <a:t> Limited public datasets for regional competitor logos (e.g., Lava, </a:t>
            </a:r>
            <a:r>
              <a:rPr lang="en-IN" dirty="0" err="1"/>
              <a:t>Micromax</a:t>
            </a:r>
            <a:r>
              <a:rPr lang="en-IN" dirty="0" smtClean="0"/>
              <a:t>).</a:t>
            </a:r>
          </a:p>
          <a:p>
            <a:r>
              <a:rPr lang="en-IN" i="1" dirty="0" smtClean="0"/>
              <a:t>Mitigation</a:t>
            </a:r>
            <a:r>
              <a:rPr lang="en-IN" i="1" dirty="0"/>
              <a:t>:</a:t>
            </a:r>
            <a:r>
              <a:rPr lang="en-IN" dirty="0"/>
              <a:t> Rely on OCR text detection for brands lacking visual training data.</a:t>
            </a:r>
          </a:p>
          <a:p>
            <a:r>
              <a:rPr lang="en-IN" b="1" dirty="0"/>
              <a:t>Subjectivity of </a:t>
            </a:r>
            <a:r>
              <a:rPr lang="en-IN" b="1" dirty="0" smtClean="0"/>
              <a:t>Violence:</a:t>
            </a:r>
            <a:r>
              <a:rPr lang="en-IN" dirty="0" smtClean="0"/>
              <a:t> </a:t>
            </a:r>
            <a:r>
              <a:rPr lang="en-IN" dirty="0"/>
              <a:t>Difficulty in distinguishing </a:t>
            </a:r>
            <a:r>
              <a:rPr lang="en-IN" dirty="0" smtClean="0"/>
              <a:t>Contextual Violence </a:t>
            </a:r>
            <a:r>
              <a:rPr lang="en-IN" dirty="0"/>
              <a:t>(News/Sports) from </a:t>
            </a:r>
            <a:r>
              <a:rPr lang="en-IN" dirty="0" smtClean="0"/>
              <a:t>Gratuitous Violence </a:t>
            </a:r>
            <a:r>
              <a:rPr lang="en-IN" dirty="0"/>
              <a:t>without scene context</a:t>
            </a:r>
            <a:r>
              <a:rPr lang="en-IN" dirty="0" smtClean="0"/>
              <a:t>.</a:t>
            </a:r>
          </a:p>
          <a:p>
            <a:endParaRPr lang="en-IN" dirty="0"/>
          </a:p>
          <a:p>
            <a:r>
              <a:rPr lang="en-IN" b="1" dirty="0"/>
              <a:t>Bottlenecks (Process/Performance Constraints):</a:t>
            </a:r>
            <a:endParaRPr lang="en-IN" dirty="0"/>
          </a:p>
          <a:p>
            <a:r>
              <a:rPr lang="en-IN" b="1" dirty="0"/>
              <a:t>Audio-Visual Sync Latency:</a:t>
            </a:r>
            <a:r>
              <a:rPr lang="en-IN" dirty="0"/>
              <a:t> Processing delays when correlating specific audio timestamps (e.g., a slur at 00:05) with visual frames in real-time.</a:t>
            </a:r>
          </a:p>
          <a:p>
            <a:r>
              <a:rPr lang="en-IN" b="1" dirty="0"/>
              <a:t>Compute Limitations:</a:t>
            </a:r>
            <a:r>
              <a:rPr lang="en-IN" dirty="0"/>
              <a:t> Training custom object detectors requires significant GPU resources (mitigated via Google </a:t>
            </a:r>
            <a:r>
              <a:rPr lang="en-IN" dirty="0" err="1"/>
              <a:t>Colab</a:t>
            </a:r>
            <a:r>
              <a:rPr lang="en-IN" dirty="0"/>
              <a:t> Pro).</a:t>
            </a:r>
          </a:p>
        </p:txBody>
      </p:sp>
      <p:sp>
        <p:nvSpPr>
          <p:cNvPr id="3" name="Rectangle 2"/>
          <p:cNvSpPr/>
          <p:nvPr/>
        </p:nvSpPr>
        <p:spPr>
          <a:xfrm>
            <a:off x="1" y="4647186"/>
            <a:ext cx="12191997" cy="2031325"/>
          </a:xfrm>
          <a:prstGeom prst="rect">
            <a:avLst/>
          </a:prstGeom>
        </p:spPr>
        <p:txBody>
          <a:bodyPr wrap="square">
            <a:spAutoFit/>
          </a:bodyPr>
          <a:lstStyle/>
          <a:p>
            <a:r>
              <a:rPr lang="en-IN" b="1" dirty="0"/>
              <a:t>Next Action Steps:</a:t>
            </a:r>
            <a:endParaRPr lang="en-IN" dirty="0"/>
          </a:p>
          <a:p>
            <a:r>
              <a:rPr lang="en-IN" b="1" dirty="0"/>
              <a:t>Data Curation (Week 1):</a:t>
            </a:r>
            <a:r>
              <a:rPr lang="en-IN" dirty="0"/>
              <a:t> Aggregate </a:t>
            </a:r>
            <a:r>
              <a:rPr lang="en-IN" dirty="0" smtClean="0"/>
              <a:t>Real </a:t>
            </a:r>
            <a:r>
              <a:rPr lang="en-IN" dirty="0"/>
              <a:t>Life </a:t>
            </a:r>
            <a:r>
              <a:rPr lang="en-IN" dirty="0" smtClean="0"/>
              <a:t>Violence </a:t>
            </a:r>
            <a:r>
              <a:rPr lang="en-IN" dirty="0"/>
              <a:t>(</a:t>
            </a:r>
            <a:r>
              <a:rPr lang="en-IN" dirty="0" err="1"/>
              <a:t>Kaggle</a:t>
            </a:r>
            <a:r>
              <a:rPr lang="en-IN" dirty="0"/>
              <a:t>) and </a:t>
            </a:r>
            <a:r>
              <a:rPr lang="en-IN" dirty="0" smtClean="0"/>
              <a:t>Brand Logo </a:t>
            </a:r>
            <a:r>
              <a:rPr lang="en-IN" dirty="0"/>
              <a:t>datasets; annotate specific competitor logos (Samsung, Apple).</a:t>
            </a:r>
          </a:p>
          <a:p>
            <a:r>
              <a:rPr lang="en-IN" b="1" dirty="0"/>
              <a:t>Model Development (Week 2-3):</a:t>
            </a:r>
            <a:r>
              <a:rPr lang="en-IN" dirty="0"/>
              <a:t> Train </a:t>
            </a:r>
            <a:r>
              <a:rPr lang="en-IN" b="1" dirty="0"/>
              <a:t>YOLOv8</a:t>
            </a:r>
            <a:r>
              <a:rPr lang="en-IN" dirty="0"/>
              <a:t> for object detection (Weapons, Alcohol) and implement </a:t>
            </a:r>
            <a:r>
              <a:rPr lang="en-IN" b="1" dirty="0" err="1"/>
              <a:t>EasyOCR</a:t>
            </a:r>
            <a:r>
              <a:rPr lang="en-IN" dirty="0"/>
              <a:t> for text-based compliance (e.g., </a:t>
            </a:r>
            <a:r>
              <a:rPr lang="en-IN" dirty="0" smtClean="0"/>
              <a:t>Buy Now).</a:t>
            </a:r>
            <a:endParaRPr lang="en-IN" dirty="0"/>
          </a:p>
          <a:p>
            <a:r>
              <a:rPr lang="en-IN" b="1" dirty="0"/>
              <a:t>Pipeline Integration (Week 4):</a:t>
            </a:r>
            <a:r>
              <a:rPr lang="en-IN" dirty="0"/>
              <a:t> Develop </a:t>
            </a:r>
            <a:r>
              <a:rPr lang="en-IN" b="1" dirty="0"/>
              <a:t>Flask API</a:t>
            </a:r>
            <a:r>
              <a:rPr lang="en-IN" dirty="0"/>
              <a:t> to merge Vision streams with </a:t>
            </a:r>
            <a:r>
              <a:rPr lang="en-IN" b="1" dirty="0"/>
              <a:t>Whisper/</a:t>
            </a:r>
            <a:r>
              <a:rPr lang="en-IN" b="1" dirty="0" err="1"/>
              <a:t>DistilBERT</a:t>
            </a:r>
            <a:r>
              <a:rPr lang="en-IN" dirty="0"/>
              <a:t> audio analysis for a unified safety score.</a:t>
            </a:r>
          </a:p>
        </p:txBody>
      </p:sp>
    </p:spTree>
    <p:extLst>
      <p:ext uri="{BB962C8B-B14F-4D97-AF65-F5344CB8AC3E}">
        <p14:creationId xmlns:p14="http://schemas.microsoft.com/office/powerpoint/2010/main" val="23989785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 y="105045"/>
            <a:ext cx="169332" cy="482531"/>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12" name="TextBox 11"/>
          <p:cNvSpPr txBox="1"/>
          <p:nvPr/>
        </p:nvSpPr>
        <p:spPr>
          <a:xfrm>
            <a:off x="381898" y="53922"/>
            <a:ext cx="9402182" cy="584775"/>
          </a:xfrm>
          <a:prstGeom prst="rect">
            <a:avLst/>
          </a:prstGeom>
          <a:noFill/>
        </p:spPr>
        <p:txBody>
          <a:bodyPr wrap="square" rtlCol="0" anchor="ctr">
            <a:spAutoFit/>
          </a:bodyPr>
          <a:lstStyle/>
          <a:p>
            <a:r>
              <a:rPr lang="en-US" sz="3200" b="1" dirty="0" smtClean="0">
                <a:effectLst>
                  <a:outerShdw blurRad="38100" dist="38100" dir="2700000" algn="tl">
                    <a:srgbClr val="000000">
                      <a:alpha val="43137"/>
                    </a:srgbClr>
                  </a:outerShdw>
                </a:effectLst>
                <a:latin typeface="SamsungOne 200" panose="020B0203030303020204" pitchFamily="34" charset="0"/>
                <a:ea typeface="SamsungOne 200" panose="020B0203030303020204" pitchFamily="34" charset="0"/>
              </a:rPr>
              <a:t>Professor Comments</a:t>
            </a:r>
            <a:endParaRPr lang="en-IN" sz="3200" b="1" dirty="0">
              <a:latin typeface="SamsungOne 200" panose="020B0203030303020204" pitchFamily="34" charset="0"/>
              <a:ea typeface="SamsungOne 200" panose="020B0203030303020204" pitchFamily="34" charset="0"/>
            </a:endParaRPr>
          </a:p>
        </p:txBody>
      </p:sp>
      <p:sp>
        <p:nvSpPr>
          <p:cNvPr id="14" name="Rectangle 13"/>
          <p:cNvSpPr/>
          <p:nvPr/>
        </p:nvSpPr>
        <p:spPr>
          <a:xfrm>
            <a:off x="237966" y="105045"/>
            <a:ext cx="75300" cy="48253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pic>
        <p:nvPicPr>
          <p:cNvPr id="23" name="Picture 22"/>
          <p:cNvPicPr>
            <a:picLocks noChangeAspect="1"/>
          </p:cNvPicPr>
          <p:nvPr/>
        </p:nvPicPr>
        <p:blipFill rotWithShape="1">
          <a:blip r:embed="rId2" cstate="print">
            <a:extLst>
              <a:ext uri="{28A0092B-C50C-407E-A947-70E740481C1C}">
                <a14:useLocalDpi xmlns:a14="http://schemas.microsoft.com/office/drawing/2010/main" val="0"/>
              </a:ext>
            </a:extLst>
          </a:blip>
          <a:srcRect l="4529" t="20267" r="4175" b="26842"/>
          <a:stretch/>
        </p:blipFill>
        <p:spPr>
          <a:xfrm>
            <a:off x="10942081" y="105045"/>
            <a:ext cx="1249918" cy="474910"/>
          </a:xfrm>
          <a:prstGeom prst="rect">
            <a:avLst/>
          </a:prstGeom>
        </p:spPr>
      </p:pic>
      <p:sp>
        <p:nvSpPr>
          <p:cNvPr id="7" name="TextBox 6"/>
          <p:cNvSpPr txBox="1"/>
          <p:nvPr/>
        </p:nvSpPr>
        <p:spPr>
          <a:xfrm>
            <a:off x="0" y="884404"/>
            <a:ext cx="12191999" cy="1323439"/>
          </a:xfrm>
          <a:prstGeom prst="rect">
            <a:avLst/>
          </a:prstGeom>
          <a:solidFill>
            <a:schemeClr val="bg1">
              <a:lumMod val="95000"/>
            </a:schemeClr>
          </a:solidFill>
          <a:effectLst>
            <a:outerShdw blurRad="50800" dist="38100" dir="5400000" algn="t" rotWithShape="0">
              <a:prstClr val="black">
                <a:alpha val="40000"/>
              </a:prstClr>
            </a:outerShdw>
          </a:effectLst>
        </p:spPr>
        <p:txBody>
          <a:bodyPr wrap="square" rtlCol="0">
            <a:spAutoFit/>
          </a:bodyPr>
          <a:lstStyle/>
          <a:p>
            <a:pPr marL="285750" indent="-285750" algn="just">
              <a:buFont typeface="Arial" panose="020B0604020202020204" pitchFamily="34" charset="0"/>
              <a:buChar char="•"/>
            </a:pPr>
            <a:r>
              <a:rPr lang="en-US" sz="1600" b="1" u="sng" dirty="0" smtClean="0">
                <a:solidFill>
                  <a:srgbClr val="0E4094"/>
                </a:solidFill>
              </a:rPr>
              <a:t>Slide to be filled in by professor (Either of two)</a:t>
            </a:r>
            <a:endParaRPr lang="en-US" sz="1600" dirty="0"/>
          </a:p>
          <a:p>
            <a:pPr marL="285750" indent="-285750" algn="just">
              <a:buFont typeface="Arial" panose="020B0604020202020204" pitchFamily="34" charset="0"/>
              <a:buChar char="•"/>
            </a:pPr>
            <a:r>
              <a:rPr lang="en-US" sz="1600" b="1" u="sng" dirty="0" smtClean="0">
                <a:solidFill>
                  <a:srgbClr val="0E4094"/>
                </a:solidFill>
              </a:rPr>
              <a:t>Please mention below points at the least:</a:t>
            </a:r>
          </a:p>
          <a:p>
            <a:pPr marL="742950" lvl="1" indent="-285750" algn="just">
              <a:buFont typeface="Arial" panose="020B0604020202020204" pitchFamily="34" charset="0"/>
              <a:buChar char="•"/>
            </a:pPr>
            <a:r>
              <a:rPr lang="en-US" sz="1600" b="1" u="sng" dirty="0" smtClean="0">
                <a:solidFill>
                  <a:srgbClr val="0E4094"/>
                </a:solidFill>
              </a:rPr>
              <a:t>Proposed monthly progress approach</a:t>
            </a:r>
          </a:p>
          <a:p>
            <a:pPr marL="742950" lvl="1" indent="-285750" algn="just">
              <a:buFont typeface="Arial" panose="020B0604020202020204" pitchFamily="34" charset="0"/>
              <a:buChar char="•"/>
            </a:pPr>
            <a:r>
              <a:rPr lang="en-US" sz="1600" b="1" u="sng" dirty="0" smtClean="0">
                <a:solidFill>
                  <a:srgbClr val="0E4094"/>
                </a:solidFill>
              </a:rPr>
              <a:t>Latest paper reviewed regarding the problem statement area</a:t>
            </a:r>
          </a:p>
          <a:p>
            <a:pPr marL="742950" lvl="1" indent="-285750" algn="just">
              <a:buFont typeface="Arial" panose="020B0604020202020204" pitchFamily="34" charset="0"/>
              <a:buChar char="•"/>
            </a:pPr>
            <a:r>
              <a:rPr lang="en-US" sz="1600" b="1" u="sng" dirty="0" smtClean="0">
                <a:solidFill>
                  <a:srgbClr val="0E4094"/>
                </a:solidFill>
              </a:rPr>
              <a:t>Professor Expert Insights</a:t>
            </a:r>
          </a:p>
        </p:txBody>
      </p:sp>
    </p:spTree>
    <p:extLst>
      <p:ext uri="{BB962C8B-B14F-4D97-AF65-F5344CB8AC3E}">
        <p14:creationId xmlns:p14="http://schemas.microsoft.com/office/powerpoint/2010/main" val="8216189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96548" y="526774"/>
            <a:ext cx="9157252" cy="5650189"/>
          </a:xfrm>
        </p:spPr>
        <p:txBody>
          <a:bodyPr anchor="ctr">
            <a:noAutofit/>
          </a:bodyPr>
          <a:lstStyle/>
          <a:p>
            <a:pPr marL="0" indent="0" algn="ctr">
              <a:buNone/>
            </a:pPr>
            <a:r>
              <a:rPr lang="en-IN" sz="13800" dirty="0" smtClean="0">
                <a:solidFill>
                  <a:schemeClr val="accent1"/>
                </a:solidFill>
                <a:latin typeface="Edwardian Script ITC" panose="030303020407070D0804" pitchFamily="66" charset="0"/>
              </a:rPr>
              <a:t>Thank you</a:t>
            </a:r>
            <a:endParaRPr lang="en-US" sz="13800" dirty="0">
              <a:solidFill>
                <a:schemeClr val="accent1"/>
              </a:solidFill>
              <a:latin typeface="Edwardian Script ITC" panose="030303020407070D0804" pitchFamily="66" charset="0"/>
            </a:endParaRPr>
          </a:p>
        </p:txBody>
      </p:sp>
      <p:sp>
        <p:nvSpPr>
          <p:cNvPr id="4" name="Rectangle 3"/>
          <p:cNvSpPr/>
          <p:nvPr/>
        </p:nvSpPr>
        <p:spPr>
          <a:xfrm>
            <a:off x="764740" y="-24610"/>
            <a:ext cx="984547" cy="688261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
        <p:nvSpPr>
          <p:cNvPr id="5" name="Rectangle 4"/>
          <p:cNvSpPr/>
          <p:nvPr/>
        </p:nvSpPr>
        <p:spPr>
          <a:xfrm>
            <a:off x="0" y="0"/>
            <a:ext cx="616225" cy="6857999"/>
          </a:xfrm>
          <a:prstGeom prst="rect">
            <a:avLst/>
          </a:prstGeom>
          <a:solidFill>
            <a:srgbClr val="0E40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SamsungOne 600C" panose="020B0706030303020204" pitchFamily="34" charset="0"/>
              <a:ea typeface="SamsungOne 600C" panose="020B0706030303020204" pitchFamily="34" charset="0"/>
            </a:endParaRPr>
          </a:p>
        </p:txBody>
      </p:sp>
    </p:spTree>
    <p:extLst>
      <p:ext uri="{BB962C8B-B14F-4D97-AF65-F5344CB8AC3E}">
        <p14:creationId xmlns:p14="http://schemas.microsoft.com/office/powerpoint/2010/main" val="5638570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8D5616F9BF194488B07F0627BAB481" ma:contentTypeVersion="0" ma:contentTypeDescription="Create a new document." ma:contentTypeScope="" ma:versionID="a03a99aabb1e89e7b494f7f7c7c53837">
  <xsd:schema xmlns:xsd="http://www.w3.org/2001/XMLSchema" xmlns:xs="http://www.w3.org/2001/XMLSchema" xmlns:p="http://schemas.microsoft.com/office/2006/metadata/properties" targetNamespace="http://schemas.microsoft.com/office/2006/metadata/properties" ma:root="true" ma:fieldsID="6ff03dde4259c08ff71d8d05c94e2e9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779E0A-357E-4659-B827-12FDDE9421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2FB7E07D-072A-4D90-BA7A-7BCCEBF26EFF}">
  <ds:schemaRefs>
    <ds:schemaRef ds:uri="http://schemas.openxmlformats.org/package/2006/metadata/core-propertie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B53812FF-C65E-4A33-A71C-8464EE635C8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164</TotalTime>
  <Words>1081</Words>
  <Application>Microsoft Office PowerPoint</Application>
  <PresentationFormat>Widescreen</PresentationFormat>
  <Paragraphs>146</Paragraphs>
  <Slides>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Malgun Gothic</vt:lpstr>
      <vt:lpstr>Arial</vt:lpstr>
      <vt:lpstr>Calibri</vt:lpstr>
      <vt:lpstr>Calibri Light</vt:lpstr>
      <vt:lpstr>Edwardian Script ITC</vt:lpstr>
      <vt:lpstr>Samsung Sharp Sans Bold</vt:lpstr>
      <vt:lpstr>SamsungOne 200</vt:lpstr>
      <vt:lpstr>SamsungOne 600C</vt:lpstr>
      <vt:lpstr>SamsungOne 700</vt:lpstr>
      <vt:lpstr>SamsungOne 800</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Saad Hashmi/Tech Mgmt /SRI-Bangalore/Professional/삼성전자</dc:creator>
  <cp:lastModifiedBy>Admin</cp:lastModifiedBy>
  <cp:revision>24</cp:revision>
  <dcterms:created xsi:type="dcterms:W3CDTF">2019-07-24T12:22:39Z</dcterms:created>
  <dcterms:modified xsi:type="dcterms:W3CDTF">2026-01-06T07:15:18Z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y fmtid="{D5CDD505-2E9C-101B-9397-08002B2CF9AE}" pid="3" name="ContentTypeId">
    <vt:lpwstr>0x010100168D5616F9BF194488B07F0627BAB481</vt:lpwstr>
  </property>
</Properties>
</file>